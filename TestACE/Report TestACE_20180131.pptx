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3"/>
  </p:notesMasterIdLst>
  <p:sldIdLst>
    <p:sldId id="256" r:id="rId2"/>
    <p:sldId id="257" r:id="rId3"/>
    <p:sldId id="318" r:id="rId4"/>
    <p:sldId id="270" r:id="rId5"/>
    <p:sldId id="335" r:id="rId6"/>
    <p:sldId id="331" r:id="rId7"/>
    <p:sldId id="332" r:id="rId8"/>
    <p:sldId id="333" r:id="rId9"/>
    <p:sldId id="334" r:id="rId10"/>
    <p:sldId id="319" r:id="rId11"/>
    <p:sldId id="322" r:id="rId12"/>
    <p:sldId id="323" r:id="rId13"/>
    <p:sldId id="324" r:id="rId14"/>
    <p:sldId id="326" r:id="rId15"/>
    <p:sldId id="328" r:id="rId16"/>
    <p:sldId id="327" r:id="rId17"/>
    <p:sldId id="321" r:id="rId18"/>
    <p:sldId id="299" r:id="rId19"/>
    <p:sldId id="302" r:id="rId20"/>
    <p:sldId id="313" r:id="rId21"/>
    <p:sldId id="315" r:id="rId22"/>
    <p:sldId id="316" r:id="rId23"/>
    <p:sldId id="305" r:id="rId24"/>
    <p:sldId id="317" r:id="rId25"/>
    <p:sldId id="338" r:id="rId26"/>
    <p:sldId id="294" r:id="rId27"/>
    <p:sldId id="262" r:id="rId28"/>
    <p:sldId id="329" r:id="rId29"/>
    <p:sldId id="330" r:id="rId30"/>
    <p:sldId id="336" r:id="rId31"/>
    <p:sldId id="337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99"/>
    <a:srgbClr val="25C6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4" autoAdjust="0"/>
    <p:restoredTop sz="95703" autoAdjust="0"/>
  </p:normalViewPr>
  <p:slideViewPr>
    <p:cSldViewPr>
      <p:cViewPr varScale="1">
        <p:scale>
          <a:sx n="115" d="100"/>
          <a:sy n="115" d="100"/>
        </p:scale>
        <p:origin x="145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7577F-0D1E-4A59-8F56-8613CA9ADF5B}" type="datetimeFigureOut">
              <a:rPr kumimoji="1" lang="ja-JP" altLang="en-US" smtClean="0"/>
              <a:t>2018/2/1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73F02-AB51-4424-8805-3069CAFA5E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32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02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Test Ace Installation Guide Confirmation</a:t>
            </a:r>
            <a:br>
              <a:rPr lang="en-US" altLang="ja-JP" dirty="0"/>
            </a:br>
            <a:r>
              <a:rPr lang="en-US" altLang="ja-JP" dirty="0"/>
              <a:t>Test Ace Operation Guide Confirmation</a:t>
            </a:r>
            <a:br>
              <a:rPr lang="en-US" altLang="ja-JP" dirty="0"/>
            </a:br>
            <a:r>
              <a:rPr lang="en-US" altLang="ja-JP" dirty="0"/>
              <a:t>Test ace setting document guide confirmation</a:t>
            </a:r>
            <a:br>
              <a:rPr lang="en-US" altLang="ja-JP" dirty="0"/>
            </a:br>
            <a:r>
              <a:rPr lang="en-US" altLang="ja-JP" dirty="0"/>
              <a:t>Execute installation</a:t>
            </a:r>
            <a:br>
              <a:rPr lang="en-US" altLang="ja-JP" dirty="0"/>
            </a:br>
            <a:r>
              <a:rPr lang="en-US" altLang="ja-JP" dirty="0"/>
              <a:t>Check the contents of the installation guide</a:t>
            </a:r>
            <a:br>
              <a:rPr lang="en-US" altLang="ja-JP" dirty="0"/>
            </a:br>
            <a:r>
              <a:rPr lang="en-US" altLang="ja-JP" dirty="0"/>
              <a:t>Test ace operation check</a:t>
            </a:r>
            <a:br>
              <a:rPr lang="en-US" altLang="ja-JP" dirty="0"/>
            </a:br>
            <a:r>
              <a:rPr lang="en-US" altLang="ja-JP" dirty="0"/>
              <a:t>Confirm the contents of the test ace operation guide</a:t>
            </a:r>
            <a:br>
              <a:rPr lang="en-US" altLang="ja-JP" dirty="0"/>
            </a:br>
            <a:r>
              <a:rPr lang="en-US" altLang="ja-JP" dirty="0"/>
              <a:t>Confirm the contents of the test ace setting guide </a:t>
            </a:r>
            <a:r>
              <a:rPr lang="en-US" altLang="ja-JP" dirty="0" err="1"/>
              <a:t>guide</a:t>
            </a:r>
            <a:br>
              <a:rPr lang="en-US" altLang="ja-JP" dirty="0"/>
            </a:br>
            <a:r>
              <a:rPr lang="en-US" altLang="ja-JP" dirty="0"/>
              <a:t>Test Ace Product Description</a:t>
            </a:r>
            <a:br>
              <a:rPr lang="en-US" altLang="ja-JP" dirty="0"/>
            </a:br>
            <a:r>
              <a:rPr lang="en-US" altLang="ja-JP" dirty="0"/>
              <a:t>Test ace Preparation of product description (Prepare Report)</a:t>
            </a:r>
            <a:br>
              <a:rPr lang="en-US" altLang="ja-JP" dirty="0"/>
            </a:br>
            <a:r>
              <a:rPr lang="en-US" altLang="ja-JP" dirty="0"/>
              <a:t>Test Ace Product Description (Reporting)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023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Java learning</a:t>
            </a:r>
            <a:br>
              <a:rPr lang="en-US" altLang="ja-JP" dirty="0"/>
            </a:br>
            <a:r>
              <a:rPr lang="en-US" altLang="ja-JP" dirty="0"/>
              <a:t>Building Eclipse</a:t>
            </a:r>
            <a:br>
              <a:rPr lang="en-US" altLang="ja-JP" dirty="0"/>
            </a:br>
            <a:r>
              <a:rPr lang="en-US" altLang="ja-JP" dirty="0"/>
              <a:t>File I / O</a:t>
            </a:r>
            <a:br>
              <a:rPr lang="en-US" altLang="ja-JP" dirty="0"/>
            </a:br>
            <a:r>
              <a:rPr lang="en-US" altLang="ja-JP" dirty="0"/>
              <a:t>Database I / O</a:t>
            </a:r>
            <a:br>
              <a:rPr lang="en-US" altLang="ja-JP" dirty="0"/>
            </a:br>
            <a:r>
              <a:rPr lang="en-US" altLang="ja-JP" dirty="0"/>
              <a:t>Test Ace User Defined Function</a:t>
            </a:r>
          </a:p>
          <a:p>
            <a:br>
              <a:rPr lang="en-US" altLang="ja-JP" dirty="0"/>
            </a:br>
            <a:r>
              <a:rPr lang="en-US" altLang="ja-JP" dirty="0"/>
              <a:t>"Creating user-defined functions</a:t>
            </a:r>
            <a:br>
              <a:rPr lang="en-US" altLang="ja-JP" dirty="0"/>
            </a:br>
            <a:r>
              <a:rPr lang="en-US" altLang="ja-JP" dirty="0"/>
              <a:t>When there is a primary key constraint in the DB before conversion data,</a:t>
            </a:r>
            <a:br>
              <a:rPr lang="en-US" altLang="ja-JP" dirty="0"/>
            </a:br>
            <a:r>
              <a:rPr lang="en-US" altLang="ja-JP" dirty="0"/>
              <a:t>Consider the transformation that keeps unique even after conversion “</a:t>
            </a:r>
          </a:p>
          <a:p>
            <a:br>
              <a:rPr lang="en-US" altLang="ja-JP" dirty="0"/>
            </a:br>
            <a:r>
              <a:rPr lang="en-US" altLang="ja-JP" dirty="0"/>
              <a:t>User defined function examination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3023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2914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B73F02-AB51-4424-8805-3069CAFA5EF2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800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B8C91-D460-4631-A589-D711838953B7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23585-F1F1-45F3-88AA-9E37ACA5A51C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C74F-A28F-42CA-9F6F-89269571DDE2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8CCC-EA1A-48B4-9393-193D57704F58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24922-A4A1-4949-98B1-2510BA045BF3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8C72-E184-4A4C-96F9-27EB60D60E4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B99A-C8B3-4481-ABF6-15C442DD0B25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E409-9887-41BF-80EF-F38C03CCB4A5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B5D2-6EC9-4218-BA1D-7E2C8EE42EE1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E762-C08F-406B-87F7-AD6862A92762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18F5B78-8F87-4961-9503-9E4A429D7D59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kumimoji="1"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55022"/>
            <a:ext cx="8610600" cy="923330"/>
          </a:xfrm>
        </p:spPr>
        <p:txBody>
          <a:bodyPr>
            <a:normAutofit/>
          </a:bodyPr>
          <a:lstStyle/>
          <a:p>
            <a:pPr algn="ctr"/>
            <a:r>
              <a:rPr lang="ja-JP" altLang="en-US" dirty="0"/>
              <a:t>テストエースレボート</a:t>
            </a:r>
            <a:endParaRPr kumimoji="1" lang="ja-JP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3686175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Implementer: </a:t>
            </a:r>
            <a:r>
              <a:rPr kumimoji="1" lang="ja-JP" altLang="en-US" dirty="0"/>
              <a:t>Ｈ</a:t>
            </a:r>
            <a:r>
              <a:rPr kumimoji="1" lang="en-US" altLang="ja-JP" dirty="0" err="1"/>
              <a:t>uynh</a:t>
            </a:r>
            <a:r>
              <a:rPr kumimoji="1" lang="ja-JP" altLang="en-US" dirty="0"/>
              <a:t> </a:t>
            </a:r>
            <a:r>
              <a:rPr kumimoji="1" lang="en-US" altLang="ja-JP" dirty="0"/>
              <a:t>Van</a:t>
            </a:r>
            <a:r>
              <a:rPr kumimoji="1" lang="ja-JP" altLang="en-US" dirty="0"/>
              <a:t> </a:t>
            </a:r>
            <a:r>
              <a:rPr kumimoji="1" lang="en-US" altLang="ja-JP" dirty="0"/>
              <a:t>Thanh</a:t>
            </a:r>
          </a:p>
          <a:p>
            <a:r>
              <a:rPr kumimoji="1" lang="en-US" altLang="ja-JP" dirty="0"/>
              <a:t>From 2018-01-10 to 2018-01-31</a:t>
            </a:r>
          </a:p>
          <a:p>
            <a:r>
              <a:rPr kumimoji="1" lang="en-US" altLang="ja-JP" dirty="0"/>
              <a:t>Version: TESTACE_V7.2.71201</a:t>
            </a:r>
          </a:p>
          <a:p>
            <a:endParaRPr kumimoji="1" lang="en-US" altLang="ja-JP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0410CC5-C10A-47EC-BE07-FEC9B950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E5CAF-9700-4324-ABA8-6BCAB979A929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492B457-3564-4108-AF11-E28215A3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FF0E7BF-2A1A-4E58-A121-C99AEB09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F805EE42-653F-47AF-9436-88E27BEA1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675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Categor</a:t>
            </a:r>
            <a:r>
              <a:rPr lang="en-US" altLang="ja-JP" dirty="0"/>
              <a:t>ies</a:t>
            </a:r>
            <a:endParaRPr kumimoji="1" lang="ja-JP" altLang="en-US" sz="4000" dirty="0"/>
          </a:p>
        </p:txBody>
      </p:sp>
      <p:sp>
        <p:nvSpPr>
          <p:cNvPr id="7" name="Subtitle 2"/>
          <p:cNvSpPr>
            <a:spLocks noGrp="1"/>
          </p:cNvSpPr>
          <p:nvPr>
            <p:ph idx="1"/>
          </p:nvPr>
        </p:nvSpPr>
        <p:spPr>
          <a:xfrm>
            <a:off x="533400" y="1524000"/>
            <a:ext cx="8153400" cy="4473209"/>
          </a:xfrm>
        </p:spPr>
        <p:txBody>
          <a:bodyPr>
            <a:normAutofit/>
          </a:bodyPr>
          <a:lstStyle/>
          <a:p>
            <a:pPr marL="571500" indent="-571500" algn="just">
              <a:buFont typeface="+mj-lt"/>
              <a:buAutoNum type="romanUcPeriod"/>
            </a:pPr>
            <a:r>
              <a:rPr lang="en-US" altLang="ja-JP" sz="2800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Schedule Study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altLang="ja-JP" sz="2800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Overview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Setting</a:t>
            </a:r>
            <a:endParaRPr lang="en-US" altLang="ja-JP" sz="2400" dirty="0">
              <a:latin typeface="Times New Roman" panose="02020603050405020304" pitchFamily="18" charset="0"/>
              <a:ea typeface="Segoe UI" panose="020B0502040204020203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romanUcPeriod"/>
            </a:pPr>
            <a:r>
              <a:rPr lang="en-US" altLang="ja-JP" sz="2400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Data Flow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Conversion Type</a:t>
            </a:r>
          </a:p>
          <a:p>
            <a:pPr marL="514350" indent="-514350" algn="just">
              <a:buFont typeface="+mj-lt"/>
              <a:buAutoNum type="romanUcPeriod"/>
            </a:pPr>
            <a:r>
              <a:rPr lang="en-US" altLang="ja-JP" sz="2800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Report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altLang="ja-JP" sz="2800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Summary</a:t>
            </a:r>
          </a:p>
          <a:p>
            <a:pPr marL="571500" indent="-571500" algn="just">
              <a:buFont typeface="+mj-lt"/>
              <a:buAutoNum type="romanUcPeriod"/>
            </a:pPr>
            <a:r>
              <a:rPr kumimoji="1" lang="en-US" altLang="ja-JP" sz="2800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FAB9E44-885B-4A28-9880-A0F6B9A2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69EED-63CD-4F8A-86CB-11AD3891A3EC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40EF0C-6A9C-4D37-8F0D-1FBE0E092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DD10B942-CDC5-428E-A61E-42C3351AF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26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en-US" altLang="ja-JP" sz="4000" dirty="0"/>
              <a:t>Schedule study</a:t>
            </a:r>
            <a:endParaRPr kumimoji="1" lang="ja-JP" altLang="en-US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84499-879F-492F-967B-5D7656F5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EFE7-0A59-4FFF-8DB3-61B71EA58975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039091-764A-4EF0-A630-31394F71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23D006-D9C5-4E64-A507-1F453788F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57539"/>
              </p:ext>
            </p:extLst>
          </p:nvPr>
        </p:nvGraphicFramePr>
        <p:xfrm>
          <a:off x="457200" y="1524000"/>
          <a:ext cx="8229601" cy="5053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3988">
                  <a:extLst>
                    <a:ext uri="{9D8B030D-6E8A-4147-A177-3AD203B41FA5}">
                      <a16:colId xmlns:a16="http://schemas.microsoft.com/office/drawing/2014/main" val="3511605320"/>
                    </a:ext>
                  </a:extLst>
                </a:gridCol>
                <a:gridCol w="3294289">
                  <a:extLst>
                    <a:ext uri="{9D8B030D-6E8A-4147-A177-3AD203B41FA5}">
                      <a16:colId xmlns:a16="http://schemas.microsoft.com/office/drawing/2014/main" val="3818294609"/>
                    </a:ext>
                  </a:extLst>
                </a:gridCol>
                <a:gridCol w="404134">
                  <a:extLst>
                    <a:ext uri="{9D8B030D-6E8A-4147-A177-3AD203B41FA5}">
                      <a16:colId xmlns:a16="http://schemas.microsoft.com/office/drawing/2014/main" val="3060624140"/>
                    </a:ext>
                  </a:extLst>
                </a:gridCol>
                <a:gridCol w="404134">
                  <a:extLst>
                    <a:ext uri="{9D8B030D-6E8A-4147-A177-3AD203B41FA5}">
                      <a16:colId xmlns:a16="http://schemas.microsoft.com/office/drawing/2014/main" val="214685886"/>
                    </a:ext>
                  </a:extLst>
                </a:gridCol>
                <a:gridCol w="808264">
                  <a:extLst>
                    <a:ext uri="{9D8B030D-6E8A-4147-A177-3AD203B41FA5}">
                      <a16:colId xmlns:a16="http://schemas.microsoft.com/office/drawing/2014/main" val="1127345636"/>
                    </a:ext>
                  </a:extLst>
                </a:gridCol>
                <a:gridCol w="808264">
                  <a:extLst>
                    <a:ext uri="{9D8B030D-6E8A-4147-A177-3AD203B41FA5}">
                      <a16:colId xmlns:a16="http://schemas.microsoft.com/office/drawing/2014/main" val="1331674583"/>
                    </a:ext>
                  </a:extLst>
                </a:gridCol>
                <a:gridCol w="808264">
                  <a:extLst>
                    <a:ext uri="{9D8B030D-6E8A-4147-A177-3AD203B41FA5}">
                      <a16:colId xmlns:a16="http://schemas.microsoft.com/office/drawing/2014/main" val="1923832570"/>
                    </a:ext>
                  </a:extLst>
                </a:gridCol>
                <a:gridCol w="808264">
                  <a:extLst>
                    <a:ext uri="{9D8B030D-6E8A-4147-A177-3AD203B41FA5}">
                      <a16:colId xmlns:a16="http://schemas.microsoft.com/office/drawing/2014/main" val="2975435775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WBS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タスク</a:t>
                      </a:r>
                      <a:endParaRPr lang="ja-JP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進捗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工数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予想開始日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予想終了日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>
                          <a:solidFill>
                            <a:schemeClr val="bg1"/>
                          </a:solidFill>
                          <a:effectLst/>
                        </a:rPr>
                        <a:t>実際開始日</a:t>
                      </a:r>
                      <a:endParaRPr lang="ja-JP" altLang="en-US" sz="1200" b="0" i="0" u="none" strike="noStrike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2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実際終了日</a:t>
                      </a:r>
                      <a:endParaRPr lang="ja-JP" alt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15928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 dirty="0">
                          <a:effectLst/>
                        </a:rPr>
                        <a:t>1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Test Ace Installation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427102752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 dirty="0">
                          <a:effectLst/>
                        </a:rPr>
                        <a:t>2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Test Ace Operation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12440668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 dirty="0">
                          <a:effectLst/>
                        </a:rPr>
                        <a:t>3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Setting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FF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FF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05107026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3.1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DB connection info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52048214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3.2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File connection info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2018/1/12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74476753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 dirty="0">
                          <a:effectLst/>
                        </a:rPr>
                        <a:t>4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Data flow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10006347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4.1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DB to File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8978973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4.2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DB to DB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48513502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4.3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Load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20503674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4.4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File to File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08033445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4.5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Generate to File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4625025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4.6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Generate to DB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92194505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 dirty="0">
                          <a:effectLst/>
                        </a:rPr>
                        <a:t>5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Conversions type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 dirty="0">
                          <a:effectLst/>
                        </a:rPr>
                        <a:t>　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08573343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 dirty="0">
                          <a:effectLst/>
                        </a:rPr>
                        <a:t>5.1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Unchanged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71052192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5.2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Mask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415008202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5.3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Random [DB to File, DB to DB]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2018/1/19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196686259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5.4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Random [Generate to File, Generate to DB]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2018/1/19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18249859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5.5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Gizidata [DB to File, DB to DB]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100%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2018/1/22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88213601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5.6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Gizidata [Generate to File, Generate to DB]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2018/1/22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33403824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5.7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Use-defind function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2018/1/23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89429723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5.8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Foreign key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2018/1/23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2018/1/23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77892555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5.9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Dependent column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2018/1/24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2018/1/24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165017356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5.10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Sequence number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2018/1/24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2018/1/25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87179163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5.11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Fixed 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131097" marR="8740" marT="874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2018/1/25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2018/1/25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80775466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 dirty="0">
                          <a:effectLst/>
                        </a:rPr>
                        <a:t>6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 err="1">
                          <a:effectLst/>
                        </a:rPr>
                        <a:t>Gizidata</a:t>
                      </a:r>
                      <a:r>
                        <a:rPr lang="en-US" sz="1000" u="none" strike="noStrike" dirty="0">
                          <a:effectLst/>
                        </a:rPr>
                        <a:t> info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2018/1/26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287971649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7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User defined function info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100%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2018/1/26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2018/1/30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2018/1/29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2018/1/30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48508647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8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>
                          <a:effectLst/>
                        </a:rPr>
                        <a:t>Test Ace Report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>
                          <a:effectLst/>
                        </a:rPr>
                        <a:t>　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15877083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ja-JP" sz="1000" u="none" strike="noStrike">
                          <a:effectLst/>
                        </a:rPr>
                        <a:t>8.1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 dirty="0" err="1">
                          <a:effectLst/>
                        </a:rPr>
                        <a:t>Reparing</a:t>
                      </a:r>
                      <a:r>
                        <a:rPr lang="en-US" sz="1000" u="none" strike="noStrike" dirty="0">
                          <a:effectLst/>
                        </a:rPr>
                        <a:t> report document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100%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1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2018/1/30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2018/1/31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    </a:t>
                      </a:r>
                      <a:r>
                        <a:rPr lang="en-US" altLang="ja-JP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2018/1/31</a:t>
                      </a:r>
                      <a:endParaRPr lang="ja-JP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      </a:t>
                      </a:r>
                      <a:r>
                        <a:rPr lang="en-US" altLang="ja-JP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2018/2/1</a:t>
                      </a:r>
                      <a:endParaRPr lang="ja-JP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159719173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000" u="none" strike="noStrike">
                          <a:effectLst/>
                        </a:rPr>
                        <a:t>8.2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Reporting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 dirty="0">
                          <a:effectLst/>
                        </a:rPr>
                        <a:t>100%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0.5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2018/1/31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ja-JP" sz="1000" u="none" strike="noStrike">
                          <a:effectLst/>
                        </a:rPr>
                        <a:t>2018/1/31</a:t>
                      </a:r>
                      <a:endParaRPr lang="en-US" altLang="ja-JP" sz="1000" b="0" i="0" u="none" strike="noStrike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 dirty="0">
                          <a:effectLst/>
                        </a:rPr>
                        <a:t>　      </a:t>
                      </a:r>
                      <a:r>
                        <a:rPr lang="en-US" altLang="ja-JP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2018/2/2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000" u="none" strike="noStrike" dirty="0">
                          <a:effectLst/>
                        </a:rPr>
                        <a:t>　      </a:t>
                      </a:r>
                      <a:r>
                        <a:rPr lang="en-US" altLang="ja-JP" sz="1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2018/2/2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8740" marR="8740" marT="8740" marB="0" anchor="b"/>
                </a:tc>
                <a:extLst>
                  <a:ext uri="{0D108BD9-81ED-4DB2-BD59-A6C34878D82A}">
                    <a16:rowId xmlns:a16="http://schemas.microsoft.com/office/drawing/2014/main" val="3862637374"/>
                  </a:ext>
                </a:extLst>
              </a:tr>
            </a:tbl>
          </a:graphicData>
        </a:graphic>
      </p:graphicFrame>
      <p:pic>
        <p:nvPicPr>
          <p:cNvPr id="20" name="Picture 3">
            <a:extLst>
              <a:ext uri="{FF2B5EF4-FFF2-40B4-BE49-F238E27FC236}">
                <a16:creationId xmlns:a16="http://schemas.microsoft.com/office/drawing/2014/main" id="{A2B0E341-FF0C-47D1-B062-29DCB3771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63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/>
              <a:t>II.	Overview</a:t>
            </a:r>
            <a:endParaRPr kumimoji="1" lang="ja-JP" altLang="en-US" sz="400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EDF6290-B1FC-433C-B4FA-5AEF9407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6B277-947A-4AF0-A006-9ACC9EB83EB2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27D0D20-6F75-48F0-95E5-187AD2B1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テストエース</a:t>
            </a:r>
            <a:endParaRPr lang="en-US" dirty="0"/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F4DC363F-C857-4BE1-B06E-7C3D50F23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Footer Placeholder 13">
            <a:extLst>
              <a:ext uri="{FF2B5EF4-FFF2-40B4-BE49-F238E27FC236}">
                <a16:creationId xmlns:a16="http://schemas.microsoft.com/office/drawing/2014/main" id="{6B1C597E-8F66-437D-89C5-247F4713D8D0}"/>
              </a:ext>
            </a:extLst>
          </p:cNvPr>
          <p:cNvSpPr txBox="1">
            <a:spLocks/>
          </p:cNvSpPr>
          <p:nvPr/>
        </p:nvSpPr>
        <p:spPr>
          <a:xfrm>
            <a:off x="457200" y="1524000"/>
            <a:ext cx="8229600" cy="4953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ja-JP" altLang="en-US" b="1" dirty="0">
                <a:solidFill>
                  <a:srgbClr val="FF0000"/>
                </a:solidFill>
              </a:rPr>
              <a:t>テストエース</a:t>
            </a:r>
            <a:r>
              <a:rPr lang="en-US" altLang="ja-JP" dirty="0">
                <a:solidFill>
                  <a:schemeClr val="tx1"/>
                </a:solidFill>
              </a:rPr>
              <a:t>is a software used for create data in order to test product.</a:t>
            </a:r>
          </a:p>
          <a:p>
            <a:pPr algn="l"/>
            <a:r>
              <a:rPr lang="en-US" altLang="ja-JP" dirty="0">
                <a:solidFill>
                  <a:schemeClr val="tx1"/>
                </a:solidFill>
              </a:rPr>
              <a:t>It create data base on data of database or file (CSV, Excel) or auto create.</a:t>
            </a:r>
          </a:p>
          <a:p>
            <a:pPr algn="l"/>
            <a:r>
              <a:rPr lang="en-US" altLang="ja-JP" dirty="0">
                <a:solidFill>
                  <a:schemeClr val="tx1"/>
                </a:solidFill>
              </a:rPr>
              <a:t>Data is created converted that is similar real data.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User can custom data creation by rules.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Creating and converted data is sure for real data information.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Output </a:t>
            </a:r>
            <a:r>
              <a:rPr lang="en-US" dirty="0" err="1">
                <a:solidFill>
                  <a:schemeClr val="tx1"/>
                </a:solidFill>
              </a:rPr>
              <a:t>createing</a:t>
            </a:r>
            <a:r>
              <a:rPr lang="en-US" dirty="0">
                <a:solidFill>
                  <a:schemeClr val="tx1"/>
                </a:solidFill>
              </a:rPr>
              <a:t> or converted data</a:t>
            </a:r>
            <a:r>
              <a:rPr lang="en-US" altLang="ja-JP" dirty="0">
                <a:solidFill>
                  <a:schemeClr val="tx1"/>
                </a:solidFill>
              </a:rPr>
              <a:t> to database or file (CSV, EXCEL).</a:t>
            </a:r>
          </a:p>
          <a:p>
            <a:pPr algn="l"/>
            <a:r>
              <a:rPr lang="en-US" altLang="ja-JP" dirty="0">
                <a:solidFill>
                  <a:schemeClr val="tx1"/>
                </a:solidFill>
              </a:rPr>
              <a:t>Support 3 database: Oracle, </a:t>
            </a:r>
            <a:r>
              <a:rPr lang="en-US" altLang="ja-JP" dirty="0" err="1">
                <a:solidFill>
                  <a:schemeClr val="tx1"/>
                </a:solidFill>
              </a:rPr>
              <a:t>MSSQLServer</a:t>
            </a:r>
            <a:r>
              <a:rPr lang="en-US" altLang="ja-JP" dirty="0">
                <a:solidFill>
                  <a:schemeClr val="tx1"/>
                </a:solidFill>
              </a:rPr>
              <a:t>, PostgreSQL.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1F35E0-A833-4CC8-B9D9-86BA9ACB1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48000"/>
            <a:ext cx="8229600" cy="362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7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4C01-22D5-4661-BDC3-D367EC6A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III.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Setting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4F8B-C905-4D22-A029-4E301203C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 info before creating data: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/>
              <a:t>Database connection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/>
              <a:t>File connection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ja-JP" dirty="0" err="1"/>
              <a:t>Gizidata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/>
              <a:t>User Function</a:t>
            </a:r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7098A-9F00-4035-95E3-4029049B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E2FD-653A-4882-84B5-A4B41998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D51E8-C29D-432E-9C6C-C5B3D370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4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1303-7B46-488C-909F-C0AAD82A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III.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Setting (Next)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81622-29A8-42BD-92C5-6E3D21A0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 Database connection.</a:t>
            </a:r>
          </a:p>
          <a:p>
            <a:pPr lvl="1"/>
            <a:r>
              <a:rPr lang="en-US" altLang="ja-JP" sz="1200" dirty="0"/>
              <a:t>Allow set info to connect to database.</a:t>
            </a:r>
          </a:p>
          <a:p>
            <a:pPr lvl="1"/>
            <a:r>
              <a:rPr lang="en-US" altLang="ja-JP" sz="1200" dirty="0"/>
              <a:t>While </a:t>
            </a:r>
            <a:r>
              <a:rPr lang="en-US" altLang="ja-JP" sz="1200" dirty="0" err="1"/>
              <a:t>TestAce</a:t>
            </a:r>
            <a:r>
              <a:rPr lang="en-US" altLang="ja-JP" sz="1200" dirty="0"/>
              <a:t> is creating data, database’s info can be input or output.</a:t>
            </a:r>
          </a:p>
          <a:p>
            <a:pPr lvl="1"/>
            <a:endParaRPr lang="en-US" altLang="ja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71A5F-D2CE-47D1-9310-A91D086E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62279-D553-495E-8561-6AC93755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00D48-AE84-49D9-B5D2-4C47EAF3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C82F86-D311-4396-B89F-C4D8282CF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86" y="2438400"/>
            <a:ext cx="6885714" cy="431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28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8E38-8B80-4D9E-B393-9A2D6979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III.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Setting (Next)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6239-105C-497F-B021-A56D0B72A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 File connection.</a:t>
            </a:r>
          </a:p>
          <a:p>
            <a:pPr lvl="1"/>
            <a:r>
              <a:rPr lang="en-US" altLang="ja-JP" sz="1200" dirty="0"/>
              <a:t>Setting output information.</a:t>
            </a:r>
          </a:p>
          <a:p>
            <a:pPr lvl="1"/>
            <a:r>
              <a:rPr kumimoji="1" lang="en-US" altLang="ja-JP" sz="1200" dirty="0"/>
              <a:t>Output data to setting directory.</a:t>
            </a:r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9B402-601C-42A5-81B5-B172E0CA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E448D-83B8-4BE2-BC4F-5782C9B5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7AE4A-5575-4D64-A14F-8963EF3E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A33B44-AF84-4922-B14C-E298158C5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81" y="2438400"/>
            <a:ext cx="6895238" cy="424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8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00AC-F80C-4E55-9678-FEA5D6500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III.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Setting (Next)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FD2A7-7A89-4AC1-B6BD-A820D140E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 </a:t>
            </a:r>
            <a:r>
              <a:rPr lang="en-US" altLang="ja-JP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Gizidata</a:t>
            </a:r>
            <a:r>
              <a:rPr lang="en-US" altLang="ja-JP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lvl="1"/>
            <a:r>
              <a:rPr lang="en-US" altLang="ja-JP" sz="1200" dirty="0"/>
              <a:t>It is a pattern data in order to prepare to create new data.</a:t>
            </a:r>
          </a:p>
          <a:p>
            <a:pPr lvl="1"/>
            <a:r>
              <a:rPr lang="en-US" altLang="ja-JP" sz="1200" dirty="0"/>
              <a:t>Created data base on this </a:t>
            </a:r>
            <a:r>
              <a:rPr lang="en-US" altLang="ja-JP" sz="1200" dirty="0" err="1"/>
              <a:t>gizidata</a:t>
            </a:r>
            <a:r>
              <a:rPr lang="en-US" altLang="ja-JP" sz="1200" dirty="0"/>
              <a:t>.</a:t>
            </a:r>
            <a:endParaRPr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5FA9A-7D31-4CD9-BAC4-1F9BB8EC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D6865-2071-4C82-A013-44AE9E1C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AB9D0-DFAE-4EE6-AFCD-911641C3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55E3B-49BC-4F0F-8C83-8707A77FB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95" y="2438400"/>
            <a:ext cx="6923809" cy="425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5C62-FA27-4190-AC1E-A027705A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III.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Setting (Next)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21CC-F12E-4BFB-89E4-49E15A4BF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 User Function.</a:t>
            </a:r>
          </a:p>
          <a:p>
            <a:pPr lvl="1"/>
            <a:r>
              <a:rPr lang="en-US" altLang="ja-JP" sz="1200" dirty="0"/>
              <a:t>Users will define some function which is way creating data.</a:t>
            </a:r>
          </a:p>
          <a:p>
            <a:pPr lvl="1"/>
            <a:r>
              <a:rPr lang="en-US" altLang="ja-JP" sz="1200" dirty="0"/>
              <a:t>This setting allow connect functions which users defined.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7C77-2031-4541-9383-515E7A0F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59579-A9ED-43C3-9EE2-98B6441B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F29AC-5B03-45B6-8387-F548C22C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EBEDB6-8B4A-4ECE-8F8C-B74201C8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38" y="2438400"/>
            <a:ext cx="6809524" cy="424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6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F5EDB-3F37-4CAF-B426-76944B31B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65D9F-7D4F-458C-B5F1-5DC5680E5F2F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5624DA-FB9C-49D6-8708-F83427E7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BF3260D8-E433-4A2B-91D9-8AEAAD06F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2625BC4-ED1C-460A-9CB9-8E87F1115592}"/>
              </a:ext>
            </a:extLst>
          </p:cNvPr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IV.	Data Flow</a:t>
            </a:r>
            <a:endParaRPr lang="ja-JP" alt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DEF9C0E-F211-4463-9129-00FC29DDD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Flow List</a:t>
            </a:r>
            <a:r>
              <a:rPr lang="ja-JP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ja-JP" sz="1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ja-JP" sz="1600" dirty="0"/>
              <a:t>DB</a:t>
            </a:r>
            <a:r>
              <a:rPr lang="ja-JP" altLang="en-US" sz="1600" dirty="0"/>
              <a:t>－＞変換－＞ファイル</a:t>
            </a: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TW" sz="1600" dirty="0"/>
              <a:t>DB</a:t>
            </a:r>
            <a:r>
              <a:rPr lang="zh-TW" altLang="en-US" sz="1600" dirty="0"/>
              <a:t>－＞変換－＞</a:t>
            </a:r>
            <a:r>
              <a:rPr lang="en-US" altLang="zh-TW" sz="1600" dirty="0"/>
              <a:t>DB</a:t>
            </a:r>
          </a:p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ロード</a:t>
            </a: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ファイル－＞変換－＞ファイル</a:t>
            </a:r>
            <a:endParaRPr lang="en-US" altLang="ja-JP" sz="16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生成－＞ファイル</a:t>
            </a:r>
            <a:endParaRPr lang="en-US" altLang="ja-JP" sz="1600" dirty="0"/>
          </a:p>
          <a:p>
            <a:pPr marL="800100" lvl="1" indent="-342900"/>
            <a:r>
              <a:rPr lang="en-US" altLang="ja-JP" sz="1600" dirty="0"/>
              <a:t>Output data to file (CSV, EXCEL).</a:t>
            </a:r>
          </a:p>
          <a:p>
            <a:pPr marL="342900" indent="-342900">
              <a:buFont typeface="+mj-lt"/>
              <a:buAutoNum type="arabicPeriod"/>
            </a:pPr>
            <a:r>
              <a:rPr lang="ja-JP" altLang="en-US" sz="1600" dirty="0"/>
              <a:t>生成－＞</a:t>
            </a:r>
            <a:r>
              <a:rPr lang="en-US" altLang="ja-JP" sz="1600" dirty="0"/>
              <a:t>DB</a:t>
            </a:r>
          </a:p>
          <a:p>
            <a:pPr marL="800100" lvl="1" indent="-342900"/>
            <a:r>
              <a:rPr lang="en-US" altLang="ja-JP" sz="1600" dirty="0"/>
              <a:t>Output data to database.</a:t>
            </a:r>
          </a:p>
        </p:txBody>
      </p:sp>
    </p:spTree>
    <p:extLst>
      <p:ext uri="{BB962C8B-B14F-4D97-AF65-F5344CB8AC3E}">
        <p14:creationId xmlns:p14="http://schemas.microsoft.com/office/powerpoint/2010/main" val="331730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VI.	Data Flow (Next)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C2C8988-BB52-494D-B0BE-1F6BB71CA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46E8-9769-4958-AFDC-4BD304FB326F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6F6528E-0B4D-471D-9162-89645934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テストエース</a:t>
            </a:r>
            <a:endParaRPr lang="en-US" dirty="0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3392BB94-1248-4EA9-9C07-25C3C5B42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ECE87C-C3EB-4231-9297-FE25090A94C2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 DB</a:t>
            </a:r>
            <a:r>
              <a:rPr kumimoji="1" lang="ja-JP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－＞変換－＞ファイル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Created data base on data of database.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Output data to file (CSV, EXCEL).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10A3D1-BE06-405A-B156-3BBB3245C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2438400"/>
            <a:ext cx="4733333" cy="14380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781E5F-116D-4833-99BB-0F363335E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29" y="3928040"/>
            <a:ext cx="3505946" cy="24727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D0015C-CE24-43EF-BF7C-A3702838C5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229" y="3971885"/>
            <a:ext cx="3228571" cy="2247619"/>
          </a:xfrm>
          <a:prstGeom prst="rect">
            <a:avLst/>
          </a:prstGeom>
        </p:spPr>
      </p:pic>
      <p:sp>
        <p:nvSpPr>
          <p:cNvPr id="27" name="Arrow: Right 26">
            <a:extLst>
              <a:ext uri="{FF2B5EF4-FFF2-40B4-BE49-F238E27FC236}">
                <a16:creationId xmlns:a16="http://schemas.microsoft.com/office/drawing/2014/main" id="{42EBA65E-A7AE-463B-B16B-99ACC1C66F92}"/>
              </a:ext>
            </a:extLst>
          </p:cNvPr>
          <p:cNvSpPr/>
          <p:nvPr/>
        </p:nvSpPr>
        <p:spPr>
          <a:xfrm>
            <a:off x="3429000" y="4800600"/>
            <a:ext cx="2029229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Setting </a:t>
            </a:r>
            <a:r>
              <a:rPr kumimoji="1" lang="en-US" altLang="ja-JP" dirty="0" err="1"/>
              <a:t>unchange</a:t>
            </a:r>
            <a:endParaRPr kumimoji="1" lang="ja-JP" altLang="en-US" dirty="0"/>
          </a:p>
        </p:txBody>
      </p:sp>
      <p:sp>
        <p:nvSpPr>
          <p:cNvPr id="29" name="Slide Number Placeholder 2">
            <a:extLst>
              <a:ext uri="{FF2B5EF4-FFF2-40B4-BE49-F238E27FC236}">
                <a16:creationId xmlns:a16="http://schemas.microsoft.com/office/drawing/2014/main" id="{41AA4B73-5EFF-41FF-9281-E4CB48846970}"/>
              </a:ext>
            </a:extLst>
          </p:cNvPr>
          <p:cNvSpPr txBox="1">
            <a:spLocks/>
          </p:cNvSpPr>
          <p:nvPr/>
        </p:nvSpPr>
        <p:spPr>
          <a:xfrm>
            <a:off x="6872285" y="6170877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1D225A-CD0D-4740-B78D-2567D2E2BE58}"/>
              </a:ext>
            </a:extLst>
          </p:cNvPr>
          <p:cNvSpPr txBox="1"/>
          <p:nvPr/>
        </p:nvSpPr>
        <p:spPr>
          <a:xfrm>
            <a:off x="533400" y="6260068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input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52D23-C7BC-4C84-B393-630240B52288}"/>
              </a:ext>
            </a:extLst>
          </p:cNvPr>
          <p:cNvSpPr txBox="1"/>
          <p:nvPr/>
        </p:nvSpPr>
        <p:spPr>
          <a:xfrm>
            <a:off x="5715000" y="6219504"/>
            <a:ext cx="295517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output [file]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822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VI.	Data Flow (Next)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E0592B-B01D-490E-ACE7-2803B57A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7D425-4C6F-4B21-B8DA-8ADBF49CE01E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FD4E5A-DD08-4744-BAC9-5A02B05F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75D717C9-309D-4A4B-8468-137A5D6B5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85F60B1-DAE3-47C7-B319-F71087C4A103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 DB</a:t>
            </a:r>
            <a:r>
              <a:rPr kumimoji="1" lang="zh-TW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－＞変換－＞</a:t>
            </a:r>
            <a:r>
              <a:rPr kumimoji="1" lang="en-US" altLang="zh-TW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Created data base on data of database.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Output data to database.</a:t>
            </a:r>
            <a:endParaRPr kumimoji="1" lang="en-US" altLang="zh-TW" sz="1600" dirty="0"/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EB1CA7-E8EA-4FD0-8873-3BC65A52E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047" y="2438400"/>
            <a:ext cx="4761905" cy="14380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21141A-0429-494D-B6F1-0EAFBE6F0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362412"/>
            <a:ext cx="2752381" cy="22476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ACFC230-2045-4065-9E74-35E5418D84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161" y="4362411"/>
            <a:ext cx="2752381" cy="2247619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C5893A0E-66A6-42DD-886F-C1086806B28E}"/>
              </a:ext>
            </a:extLst>
          </p:cNvPr>
          <p:cNvSpPr/>
          <p:nvPr/>
        </p:nvSpPr>
        <p:spPr>
          <a:xfrm>
            <a:off x="3209582" y="4800600"/>
            <a:ext cx="2505418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Setting </a:t>
            </a:r>
            <a:r>
              <a:rPr kumimoji="1" lang="en-US" altLang="ja-JP" dirty="0" err="1"/>
              <a:t>unchange</a:t>
            </a:r>
            <a:endParaRPr kumimoji="1" lang="ja-JP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E09D37-544B-4AA2-93AF-BCFC80C10B18}"/>
              </a:ext>
            </a:extLst>
          </p:cNvPr>
          <p:cNvSpPr txBox="1"/>
          <p:nvPr/>
        </p:nvSpPr>
        <p:spPr>
          <a:xfrm>
            <a:off x="381000" y="3993079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input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FD84BF-9598-4772-BFD4-73EDB91F2F57}"/>
              </a:ext>
            </a:extLst>
          </p:cNvPr>
          <p:cNvSpPr txBox="1"/>
          <p:nvPr/>
        </p:nvSpPr>
        <p:spPr>
          <a:xfrm>
            <a:off x="5791200" y="3993079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</a:t>
            </a:r>
            <a:r>
              <a:rPr kumimoji="1" lang="en-US" altLang="ja-JP" dirty="0" err="1">
                <a:solidFill>
                  <a:srgbClr val="FF0000"/>
                </a:solidFill>
              </a:rPr>
              <a:t>ouput</a:t>
            </a:r>
            <a:r>
              <a:rPr kumimoji="1" lang="en-US" altLang="ja-JP" dirty="0">
                <a:solidFill>
                  <a:srgbClr val="FF0000"/>
                </a:solidFill>
              </a:rPr>
              <a:t>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15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VI.	Data Flow (Next)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02D49F4-0C79-4E21-B170-CCE39749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E6E14-2111-47F2-A6D9-20EBD2E2903B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994316A-F591-4288-9E93-1A062759D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DAA82D07-DF0A-45D2-A418-4E5B6F67E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18C897A-8DEA-4ED0-ABCA-3F21EF340727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 </a:t>
            </a:r>
            <a:r>
              <a:rPr kumimoji="1" lang="ja-JP" altLang="en-US" sz="1600" dirty="0"/>
              <a:t>ロード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Created data base on data of file (CSV, EXCEL).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Output data to database.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74F7D36-2B8F-4533-8FB8-850A22D3B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4" y="2438400"/>
            <a:ext cx="2980952" cy="13714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2CCA423-6975-4D27-9AD3-2C027C1E1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443861"/>
            <a:ext cx="2704762" cy="206666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0289683-4BCE-46B0-B44F-1394CAEFC390}"/>
              </a:ext>
            </a:extLst>
          </p:cNvPr>
          <p:cNvSpPr txBox="1"/>
          <p:nvPr/>
        </p:nvSpPr>
        <p:spPr>
          <a:xfrm>
            <a:off x="381000" y="4050268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input [file]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B24C217-B4EC-499A-B903-3EB751E97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161" y="4362411"/>
            <a:ext cx="2752381" cy="224761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4387888-24E3-4FF6-B49C-6D8AA7035627}"/>
              </a:ext>
            </a:extLst>
          </p:cNvPr>
          <p:cNvSpPr txBox="1"/>
          <p:nvPr/>
        </p:nvSpPr>
        <p:spPr>
          <a:xfrm>
            <a:off x="5791200" y="3993079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</a:t>
            </a:r>
            <a:r>
              <a:rPr kumimoji="1" lang="en-US" altLang="ja-JP" dirty="0" err="1">
                <a:solidFill>
                  <a:srgbClr val="FF0000"/>
                </a:solidFill>
              </a:rPr>
              <a:t>ouput</a:t>
            </a:r>
            <a:r>
              <a:rPr kumimoji="1" lang="en-US" altLang="ja-JP" dirty="0">
                <a:solidFill>
                  <a:srgbClr val="FF0000"/>
                </a:solidFill>
              </a:rPr>
              <a:t>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05B993B-D8ED-46BC-8852-B2FDB41AC55B}"/>
              </a:ext>
            </a:extLst>
          </p:cNvPr>
          <p:cNvSpPr/>
          <p:nvPr/>
        </p:nvSpPr>
        <p:spPr>
          <a:xfrm>
            <a:off x="3209582" y="4800600"/>
            <a:ext cx="2505418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5819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VI.	Data Flow (Next)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F78B7C-104C-4A3B-8B43-0DAEFA74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BE0DD-717D-44C8-83A2-EFAD6E6BC6FE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1D501D5-C449-47A4-8341-ABBCCFCDE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B9A7C9E2-9324-41EF-BC7F-7F0BA28F3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C00BFF-A040-47A4-A299-FAC32D1B9608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 </a:t>
            </a:r>
            <a:r>
              <a:rPr kumimoji="1" lang="ja-JP" altLang="en-US" sz="1600" dirty="0"/>
              <a:t>ファイル－＞変換－＞ファイル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Created data base on data of file (CSV, EXCEL).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Output data to file (CSV, EXCEL).</a:t>
            </a:r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AE279D-546F-41A0-B185-A91B3A531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57" y="2438400"/>
            <a:ext cx="4714286" cy="140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5FC285-FC88-4655-AAE2-ADE2E13A1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443861"/>
            <a:ext cx="2704762" cy="206666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774353A-50B4-4488-8C61-950B8BF6ED22}"/>
              </a:ext>
            </a:extLst>
          </p:cNvPr>
          <p:cNvSpPr txBox="1"/>
          <p:nvPr/>
        </p:nvSpPr>
        <p:spPr>
          <a:xfrm>
            <a:off x="381000" y="4050268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input [file]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F029A15-8B33-41B3-A3EE-A252F5B5E0DA}"/>
              </a:ext>
            </a:extLst>
          </p:cNvPr>
          <p:cNvSpPr/>
          <p:nvPr/>
        </p:nvSpPr>
        <p:spPr>
          <a:xfrm>
            <a:off x="3209582" y="4800600"/>
            <a:ext cx="2505418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Setting </a:t>
            </a:r>
            <a:r>
              <a:rPr kumimoji="1" lang="en-US" altLang="ja-JP" dirty="0" err="1"/>
              <a:t>unchange</a:t>
            </a:r>
            <a:endParaRPr kumimoji="1" lang="ja-JP" alt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DEFE24-7E79-4E40-9B91-EF39C43E9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027" y="4417466"/>
            <a:ext cx="2704762" cy="206666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6E42D9F-7545-408A-A991-750ACFC0C4EC}"/>
              </a:ext>
            </a:extLst>
          </p:cNvPr>
          <p:cNvSpPr txBox="1"/>
          <p:nvPr/>
        </p:nvSpPr>
        <p:spPr>
          <a:xfrm>
            <a:off x="5964027" y="4023873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output [file]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516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VI.	Data Flow (Next)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75C6A-D83C-45F0-BB4C-37C80694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388E-8CBF-4657-9F6B-257C9138C327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533E124-4F2D-4B3C-B96D-3C656E578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57FD399C-9B6C-4C74-91E0-CE6EC6B7E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6A0693-6EFD-4319-8112-3CEBABC4DFDB}"/>
              </a:ext>
            </a:extLst>
          </p:cNvPr>
          <p:cNvSpPr txBox="1"/>
          <p:nvPr/>
        </p:nvSpPr>
        <p:spPr>
          <a:xfrm>
            <a:off x="457200" y="1600200"/>
            <a:ext cx="8229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 </a:t>
            </a:r>
            <a:r>
              <a:rPr kumimoji="1" lang="ja-JP" altLang="en-US" sz="1600" dirty="0"/>
              <a:t>生成－＞ファイル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Created data don’t base on database’s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Output data to file (CSV, EXCEL).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FE60D7-6B72-49C4-912D-48D39837A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57" y="2438400"/>
            <a:ext cx="4714286" cy="14095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1FD51F-AD69-4832-ABDF-4DD02D48F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362411"/>
            <a:ext cx="2752381" cy="22476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6ECCF-672C-4AD8-A1C8-CBE38497A749}"/>
              </a:ext>
            </a:extLst>
          </p:cNvPr>
          <p:cNvSpPr txBox="1"/>
          <p:nvPr/>
        </p:nvSpPr>
        <p:spPr>
          <a:xfrm>
            <a:off x="383039" y="3993079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input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B524DEB-383A-4C96-A8E4-96C0B6DBB9A8}"/>
              </a:ext>
            </a:extLst>
          </p:cNvPr>
          <p:cNvSpPr/>
          <p:nvPr/>
        </p:nvSpPr>
        <p:spPr>
          <a:xfrm>
            <a:off x="3209582" y="4800600"/>
            <a:ext cx="2505418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Setting </a:t>
            </a:r>
            <a:r>
              <a:rPr kumimoji="1" lang="en-US" altLang="ja-JP" dirty="0" err="1"/>
              <a:t>unchange</a:t>
            </a:r>
            <a:endParaRPr kumimoji="1" lang="ja-JP" alt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8FB6ED-CD32-4145-845B-0263A8E68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1" y="4419600"/>
            <a:ext cx="2895599" cy="21333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C61B8D-C848-4D0E-9F1F-06DAD4897818}"/>
              </a:ext>
            </a:extLst>
          </p:cNvPr>
          <p:cNvSpPr txBox="1"/>
          <p:nvPr/>
        </p:nvSpPr>
        <p:spPr>
          <a:xfrm>
            <a:off x="5791201" y="4047023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output [file]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94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VI.	Data Flow (Next)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A22DEE3-0FD6-47BB-8100-54AC547A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1CF65-D804-4276-BB50-B751EBAA5A50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A97A01B-3940-488D-BDA6-4B898664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0A62F978-3FA8-40C3-B12E-590BCD0F5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7146F1-887B-425B-BA31-F7CCEE1E9D6B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 </a:t>
            </a:r>
            <a:r>
              <a:rPr kumimoji="1" lang="ja-JP" altLang="en-US" sz="1600" dirty="0"/>
              <a:t>生成－＞</a:t>
            </a:r>
            <a:r>
              <a:rPr kumimoji="1" lang="en-US" altLang="ja-JP" sz="1600" dirty="0"/>
              <a:t>DB</a:t>
            </a:r>
            <a:endParaRPr kumimoji="1" lang="en-US" altLang="ja-JP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Created data don’t base on database’s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Output data to database.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B380F9-E7E6-459D-891A-B3EAEF920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428" y="2438400"/>
            <a:ext cx="4657143" cy="13523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A0AD32-60C3-49F3-B7A7-1D0B60D63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362411"/>
            <a:ext cx="2752381" cy="22476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3FED43-BE51-4DC9-B25C-FC415A47723F}"/>
              </a:ext>
            </a:extLst>
          </p:cNvPr>
          <p:cNvSpPr txBox="1"/>
          <p:nvPr/>
        </p:nvSpPr>
        <p:spPr>
          <a:xfrm>
            <a:off x="383039" y="3993079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input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B2D88D1-E0CF-4C75-B7AB-915171AD2166}"/>
              </a:ext>
            </a:extLst>
          </p:cNvPr>
          <p:cNvSpPr/>
          <p:nvPr/>
        </p:nvSpPr>
        <p:spPr>
          <a:xfrm>
            <a:off x="3209582" y="4800600"/>
            <a:ext cx="2505418" cy="1295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Setting </a:t>
            </a:r>
            <a:r>
              <a:rPr kumimoji="1" lang="en-US" altLang="ja-JP" dirty="0" err="1"/>
              <a:t>unchange</a:t>
            </a:r>
            <a:endParaRPr kumimoji="1" lang="ja-JP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470E11D-F188-45B1-8B8D-AAE4E6B235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124" y="4291157"/>
            <a:ext cx="2885676" cy="23142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0A309E3-5BD8-4603-892E-0A0AFFE93F2D}"/>
              </a:ext>
            </a:extLst>
          </p:cNvPr>
          <p:cNvSpPr txBox="1"/>
          <p:nvPr/>
        </p:nvSpPr>
        <p:spPr>
          <a:xfrm>
            <a:off x="5867400" y="3989522"/>
            <a:ext cx="26670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Data output [database]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624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7472"/>
            <a:ext cx="8305800" cy="1252728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V.	Conversion Type</a:t>
            </a:r>
            <a:endParaRPr kumimoji="1" lang="ja-JP" altLang="en-US" sz="1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DAC83-FCBA-4D1C-A281-02B3D954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A3E31-0453-4814-A14C-981036D14FB8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A8F9DD5-AE60-48DE-8A29-96299BD0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80305C60-35D3-4DA8-9A77-F759274F8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38C7D0-5CB7-45CA-89DF-AE73392C0225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Conversion type list: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Unchanged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Random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 err="1">
                <a:ln w="0"/>
              </a:rPr>
              <a:t>Gizidata</a:t>
            </a:r>
            <a:endParaRPr kumimoji="1" lang="en-US" altLang="ja-JP" sz="1600" dirty="0">
              <a:ln w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Use-</a:t>
            </a:r>
            <a:r>
              <a:rPr kumimoji="1" lang="en-US" altLang="ja-JP" sz="1600" dirty="0" err="1">
                <a:ln w="0"/>
              </a:rPr>
              <a:t>defind</a:t>
            </a:r>
            <a:r>
              <a:rPr kumimoji="1" lang="en-US" altLang="ja-JP" sz="1600" dirty="0">
                <a:ln w="0"/>
              </a:rPr>
              <a:t>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Foreign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Dependent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Sequence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Fixed value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3090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B113BA-0AEC-4CAB-AC5D-9DD9C0B4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A89C-BD7C-452A-B795-EE0078030A13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1023B7-3EA7-438B-AC73-36AE4096D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67258F07-00F0-46B3-A05E-73DC260C9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C2F7B5-E875-436B-A49C-A8AA68B1700C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 Unchanged: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Created data like real data in database or file.</a:t>
            </a:r>
          </a:p>
          <a:p>
            <a:endParaRPr kumimoji="1" lang="en-US" altLang="ja-JP" sz="1600" dirty="0">
              <a:ln w="0"/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FD2C13-1062-40CB-BF46-A4BF154D6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514600"/>
            <a:ext cx="3438095" cy="2714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87D468-D725-4B2B-B5D6-19644FC5B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857" y="2590800"/>
            <a:ext cx="3457143" cy="2733333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6850A5AB-00DF-47E2-9CAD-7009A32A7A4D}"/>
              </a:ext>
            </a:extLst>
          </p:cNvPr>
          <p:cNvSpPr/>
          <p:nvPr/>
        </p:nvSpPr>
        <p:spPr>
          <a:xfrm>
            <a:off x="3838144" y="3400086"/>
            <a:ext cx="1419656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606DC3-7F3E-49E3-9D3C-D65091E0FE4D}"/>
              </a:ext>
            </a:extLst>
          </p:cNvPr>
          <p:cNvSpPr/>
          <p:nvPr/>
        </p:nvSpPr>
        <p:spPr>
          <a:xfrm>
            <a:off x="1447800" y="2971800"/>
            <a:ext cx="990600" cy="2209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DE9AB96-2FFC-4495-99BF-CAC63FE21CE8}"/>
              </a:ext>
            </a:extLst>
          </p:cNvPr>
          <p:cNvSpPr/>
          <p:nvPr/>
        </p:nvSpPr>
        <p:spPr>
          <a:xfrm>
            <a:off x="6400800" y="2971800"/>
            <a:ext cx="990600" cy="2209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585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24A25-79A0-4AE4-9E4A-E522763E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84D1-8980-4390-8539-4C866654093B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6E44E-BF6B-4F11-A263-3EEC30FD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39" name="Picture 3">
            <a:extLst>
              <a:ext uri="{FF2B5EF4-FFF2-40B4-BE49-F238E27FC236}">
                <a16:creationId xmlns:a16="http://schemas.microsoft.com/office/drawing/2014/main" id="{B48BB05F-6652-46D7-82FE-65B8763B4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2291294-1888-4A7C-B32F-CA723BE155FF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Mask: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Created data do not like real data in database or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Data are replaced some things by setting.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6F2150-05AE-49D4-8D88-94069AFAF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56" y="2971800"/>
            <a:ext cx="3571429" cy="2847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CC60BB-6CFF-4A06-B051-BBB67B2B3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723" y="2971800"/>
            <a:ext cx="3647619" cy="288571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E2E6A80-6E28-4691-8C84-3F4FEEBEDF30}"/>
              </a:ext>
            </a:extLst>
          </p:cNvPr>
          <p:cNvSpPr/>
          <p:nvPr/>
        </p:nvSpPr>
        <p:spPr>
          <a:xfrm>
            <a:off x="3880385" y="3886200"/>
            <a:ext cx="1072615" cy="838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F83F983-FC2C-4B24-B417-33C3679E256B}"/>
              </a:ext>
            </a:extLst>
          </p:cNvPr>
          <p:cNvSpPr/>
          <p:nvPr/>
        </p:nvSpPr>
        <p:spPr>
          <a:xfrm>
            <a:off x="1447800" y="3429000"/>
            <a:ext cx="990600" cy="2209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347F5E4-02CB-4A60-A15E-F35561DFD7B9}"/>
              </a:ext>
            </a:extLst>
          </p:cNvPr>
          <p:cNvSpPr/>
          <p:nvPr/>
        </p:nvSpPr>
        <p:spPr>
          <a:xfrm>
            <a:off x="6172200" y="3352800"/>
            <a:ext cx="990600" cy="2209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9574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D4FAD3-E3AF-4541-8EED-7C256A4C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5AE56-3E97-49AB-9E09-F7A31BC5B444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9E4D1-282F-4FE8-BE5C-95786561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53" name="Picture 3">
            <a:extLst>
              <a:ext uri="{FF2B5EF4-FFF2-40B4-BE49-F238E27FC236}">
                <a16:creationId xmlns:a16="http://schemas.microsoft.com/office/drawing/2014/main" id="{9FAED3DF-E42A-4406-949F-D79B38CF9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E7FA2FA-B068-4C1C-87E8-27BAF3D740A8}"/>
              </a:ext>
            </a:extLst>
          </p:cNvPr>
          <p:cNvSpPr txBox="1"/>
          <p:nvPr/>
        </p:nvSpPr>
        <p:spPr>
          <a:xfrm>
            <a:off x="457200" y="1600200"/>
            <a:ext cx="8229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Random: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Created data do not like real data in database or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Data are created base on setting.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E19F43-EB12-4E6E-8731-DA9885405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99055"/>
            <a:ext cx="2723809" cy="2819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69C026-32FB-4DAB-A221-20436C2771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126" y="2641913"/>
            <a:ext cx="2723809" cy="287619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906DDF56-6640-40ED-AA46-61BEA58575E1}"/>
              </a:ext>
            </a:extLst>
          </p:cNvPr>
          <p:cNvSpPr/>
          <p:nvPr/>
        </p:nvSpPr>
        <p:spPr>
          <a:xfrm>
            <a:off x="3429000" y="3429000"/>
            <a:ext cx="2362200" cy="1143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35196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BB589A-EEDB-422E-B58F-F786E10DC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AC030-58E7-4099-945A-ACC7E79E50B6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C4918-7B28-4683-89B6-C1AA6EDC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52" name="Picture 3">
            <a:extLst>
              <a:ext uri="{FF2B5EF4-FFF2-40B4-BE49-F238E27FC236}">
                <a16:creationId xmlns:a16="http://schemas.microsoft.com/office/drawing/2014/main" id="{D33382BD-A86C-4E17-9A4B-E255FD9DA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5F55BCF-7BB8-47B0-92AE-62CF6B58B83A}"/>
              </a:ext>
            </a:extLst>
          </p:cNvPr>
          <p:cNvSpPr txBox="1"/>
          <p:nvPr/>
        </p:nvSpPr>
        <p:spPr>
          <a:xfrm>
            <a:off x="457200" y="1600200"/>
            <a:ext cx="8229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en-US" altLang="ja-JP" sz="1600" dirty="0" err="1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Gizidata</a:t>
            </a:r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Created data base on file data.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9D1C3-D327-4181-8B14-2B772CC85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447800"/>
            <a:ext cx="3962400" cy="2126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8C4F39-227F-4BE3-A774-A142CBCCC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86" y="3876847"/>
            <a:ext cx="2685514" cy="27619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1D2B42-B6EA-4108-ACCE-CF5389CA5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1558" y="3838752"/>
            <a:ext cx="4304762" cy="2800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7A1CE0-5A8D-4057-9947-7E507BAD2347}"/>
              </a:ext>
            </a:extLst>
          </p:cNvPr>
          <p:cNvSpPr/>
          <p:nvPr/>
        </p:nvSpPr>
        <p:spPr>
          <a:xfrm>
            <a:off x="1143000" y="2362200"/>
            <a:ext cx="22098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File </a:t>
            </a:r>
            <a:r>
              <a:rPr kumimoji="1" lang="en-US" altLang="ja-JP" dirty="0" err="1"/>
              <a:t>Gizidata</a:t>
            </a:r>
            <a:endParaRPr kumimoji="1" lang="ja-JP" alt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022A1E-78EB-4039-A319-888F47C38C6A}"/>
              </a:ext>
            </a:extLst>
          </p:cNvPr>
          <p:cNvCxnSpPr>
            <a:stCxn id="12" idx="3"/>
          </p:cNvCxnSpPr>
          <p:nvPr/>
        </p:nvCxnSpPr>
        <p:spPr>
          <a:xfrm flipV="1">
            <a:off x="3352800" y="2590800"/>
            <a:ext cx="2514600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A59F5AA-A7A2-4B1D-A4DC-B5F7BE16D8C2}"/>
              </a:ext>
            </a:extLst>
          </p:cNvPr>
          <p:cNvSpPr/>
          <p:nvPr/>
        </p:nvSpPr>
        <p:spPr>
          <a:xfrm>
            <a:off x="3048000" y="4724400"/>
            <a:ext cx="1273078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527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F1F5F-F2A1-4B00-8BE0-4821DC35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0A951-0E64-41A7-AF81-9462FE1B116A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705F65-4575-4732-BC0B-8C2151220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47" name="Picture 3">
            <a:extLst>
              <a:ext uri="{FF2B5EF4-FFF2-40B4-BE49-F238E27FC236}">
                <a16:creationId xmlns:a16="http://schemas.microsoft.com/office/drawing/2014/main" id="{7CDACAB0-C87E-4B67-BA30-18333047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D49C1AB-93B6-4DF0-B72F-08AEB924EEF8}"/>
              </a:ext>
            </a:extLst>
          </p:cNvPr>
          <p:cNvSpPr txBox="1"/>
          <p:nvPr/>
        </p:nvSpPr>
        <p:spPr>
          <a:xfrm>
            <a:off x="457200" y="1600200"/>
            <a:ext cx="8229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Use-</a:t>
            </a:r>
            <a:r>
              <a:rPr lang="en-US" altLang="ja-JP" sz="1600" dirty="0" err="1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defind</a:t>
            </a:r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function: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Created data base on created function of user.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87EBD-83EA-4317-849E-BB3F09EF8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371600"/>
            <a:ext cx="3498432" cy="256676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329D5B-5C83-4A90-A999-6D768192F0AE}"/>
              </a:ext>
            </a:extLst>
          </p:cNvPr>
          <p:cNvSpPr/>
          <p:nvPr/>
        </p:nvSpPr>
        <p:spPr>
          <a:xfrm>
            <a:off x="1066800" y="2438400"/>
            <a:ext cx="28956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Created function of User</a:t>
            </a:r>
            <a:endParaRPr kumimoji="1" lang="ja-JP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C1377D-A7AE-4D5F-BA5E-D210C021FC6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962400" y="2852928"/>
            <a:ext cx="1371600" cy="4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6D87D71-AA91-45C2-82ED-CC7CCBA7A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67200"/>
            <a:ext cx="1914286" cy="24048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C6FCA5-8068-4F04-9B70-3E7BDAD22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238" y="4267199"/>
            <a:ext cx="1904762" cy="2400313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60261C6A-5363-447D-898A-08F253D14F6F}"/>
              </a:ext>
            </a:extLst>
          </p:cNvPr>
          <p:cNvSpPr/>
          <p:nvPr/>
        </p:nvSpPr>
        <p:spPr>
          <a:xfrm>
            <a:off x="2514600" y="4962490"/>
            <a:ext cx="1524000" cy="10527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377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DC88BBC-3497-4A13-AB43-B4271F60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E9EE-7C42-4B24-90A5-BB97D01D8E9C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1B3BE3-E5B1-4AD6-AAA9-E033E49E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82" name="Picture 3">
            <a:extLst>
              <a:ext uri="{FF2B5EF4-FFF2-40B4-BE49-F238E27FC236}">
                <a16:creationId xmlns:a16="http://schemas.microsoft.com/office/drawing/2014/main" id="{C67CA060-310D-4D32-8298-914922AAA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88CE78DE-CC3D-4883-B412-EF4AB29F015D}"/>
              </a:ext>
            </a:extLst>
          </p:cNvPr>
          <p:cNvSpPr txBox="1"/>
          <p:nvPr/>
        </p:nvSpPr>
        <p:spPr>
          <a:xfrm>
            <a:off x="457200" y="1600200"/>
            <a:ext cx="8229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Foreign key: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ln w="0"/>
              </a:rPr>
              <a:t>Convert data like data in database.</a:t>
            </a: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44004F-BB6E-4762-BC81-ADEACEE63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2" y="2219476"/>
            <a:ext cx="4676190" cy="12095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312F3-2BAF-4E56-B43B-82DFFEEB7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985468"/>
            <a:ext cx="1819048" cy="10285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7CE4FF-E209-4DD9-9F1C-A807066BA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686371"/>
            <a:ext cx="1219048" cy="3619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0CCA41-13D9-4844-9EB7-E73A6E690E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929" y="3985468"/>
            <a:ext cx="2352381" cy="1009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3681F3-E0B2-44FD-A7C3-1EADE6413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833" y="3657600"/>
            <a:ext cx="1228571" cy="40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8B6E5DB-9463-4090-A783-3B3C3A3275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5180934"/>
            <a:ext cx="2752381" cy="1266667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4F35B010-5B26-4226-AF6B-3625B0089378}"/>
              </a:ext>
            </a:extLst>
          </p:cNvPr>
          <p:cNvSpPr/>
          <p:nvPr/>
        </p:nvSpPr>
        <p:spPr>
          <a:xfrm>
            <a:off x="3204039" y="5486400"/>
            <a:ext cx="2053761" cy="8843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54E999-678A-4753-B1EC-0875DC0567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3929" y="5180934"/>
            <a:ext cx="2752381" cy="1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17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47472"/>
            <a:ext cx="8229600" cy="1252728"/>
          </a:xfrm>
        </p:spPr>
        <p:txBody>
          <a:bodyPr>
            <a:noAutofit/>
          </a:bodyPr>
          <a:lstStyle/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52C6A-A9AF-4448-8587-BC0B834D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9F4E7-1F1B-48E4-92D9-42D5BA0CFAB9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2F5D6-FAB7-4814-9FFF-281CCA01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37" name="Picture 3">
            <a:extLst>
              <a:ext uri="{FF2B5EF4-FFF2-40B4-BE49-F238E27FC236}">
                <a16:creationId xmlns:a16="http://schemas.microsoft.com/office/drawing/2014/main" id="{8C610C55-71B9-42D4-984D-25F6A292C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975799E-BD20-4F44-AFAA-9D0221F6458A}"/>
              </a:ext>
            </a:extLst>
          </p:cNvPr>
          <p:cNvSpPr txBox="1"/>
          <p:nvPr/>
        </p:nvSpPr>
        <p:spPr>
          <a:xfrm>
            <a:off x="457200" y="1600200"/>
            <a:ext cx="82296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Dependent column:</a:t>
            </a:r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Created data is the same with dependent columns</a:t>
            </a:r>
            <a:endParaRPr kumimoji="1" lang="en-US" altLang="ja-JP" sz="1600" dirty="0">
              <a:ln w="0"/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82280-D718-4A4A-A1D0-EC7A93D3E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14600"/>
            <a:ext cx="3390476" cy="1895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87D4ED-158F-44DB-8017-D65B76758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2166828"/>
            <a:ext cx="2542857" cy="20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EED43-87E0-43DF-9B0F-5DD975221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9402" y="4250468"/>
            <a:ext cx="6520767" cy="245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69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DB78-D787-4FCE-8F30-F6F85F76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V.	Conversion Type (Next)</a:t>
            </a:r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9D921-0447-4241-8A99-15975448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281CE-4D1E-46E2-A6B3-3B3698BA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B582D-5D3B-4767-90B3-B7D1D2FC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92E73D-19AD-4A79-8F55-016717A29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652762-41C3-45D4-BF3F-9C87491F5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85" y="1600200"/>
            <a:ext cx="651171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36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04800" y="347472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923DC-F34C-4E0D-9430-949F8529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77B3-0F1C-4C3B-9D04-B00D368EC7EC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14BA4B-40CE-4506-9203-F13B67AD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80CB8510-F787-4744-A544-AA9BAA621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3A2165-2175-4EEC-998C-6D9A532BAA88}"/>
              </a:ext>
            </a:extLst>
          </p:cNvPr>
          <p:cNvSpPr txBox="1"/>
          <p:nvPr/>
        </p:nvSpPr>
        <p:spPr>
          <a:xfrm>
            <a:off x="457200" y="1600200"/>
            <a:ext cx="82296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</a:t>
            </a:r>
            <a:r>
              <a:rPr lang="ja-JP" altLang="en-US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Ｎ</a:t>
            </a:r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umber:</a:t>
            </a:r>
          </a:p>
          <a:p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Generate a sequence number.</a:t>
            </a:r>
            <a:endParaRPr kumimoji="1" lang="en-US" altLang="ja-JP" sz="1600" dirty="0">
              <a:ln w="0"/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22100-D81D-4EDE-8F09-331E6E0C6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870" y="2048047"/>
            <a:ext cx="2980952" cy="2761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FD229E-0FD4-4FE7-BA28-43FE287D8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75944"/>
            <a:ext cx="3638095" cy="140952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E3A11F9-6B32-4366-9E9B-CA1FACC658C4}"/>
              </a:ext>
            </a:extLst>
          </p:cNvPr>
          <p:cNvSpPr/>
          <p:nvPr/>
        </p:nvSpPr>
        <p:spPr>
          <a:xfrm>
            <a:off x="4095295" y="2895600"/>
            <a:ext cx="1646575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494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04800" y="347472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/>
            <a:r>
              <a:rPr lang="en-US" altLang="ja-JP" sz="3200" dirty="0"/>
              <a:t>V.	Conversion Type (Next)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5438B7-8DF0-45B9-9E9A-681883BC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353EC-44E0-4AB2-A0C5-7D27BB99E342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3489F4F-3F48-4997-A311-92ED8C21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F53D6ABB-8269-44FB-A32F-1B21CB80B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BBC61D-69E6-42EA-8C9A-9ECE0A2C1831}"/>
              </a:ext>
            </a:extLst>
          </p:cNvPr>
          <p:cNvSpPr txBox="1"/>
          <p:nvPr/>
        </p:nvSpPr>
        <p:spPr>
          <a:xfrm>
            <a:off x="457200" y="1600200"/>
            <a:ext cx="82296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Fixed </a:t>
            </a:r>
            <a:r>
              <a:rPr lang="ja-JP" altLang="en-US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Ｖ</a:t>
            </a:r>
            <a:r>
              <a:rPr lang="en-US" altLang="ja-JP" sz="1600" dirty="0" err="1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alue</a:t>
            </a:r>
            <a:r>
              <a:rPr lang="en-US" altLang="ja-JP" sz="16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endParaRPr kumimoji="1" lang="en-US" altLang="ja-JP" sz="160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Generate fixed value.</a:t>
            </a:r>
            <a:endParaRPr kumimoji="1" lang="en-US" altLang="ja-JP" sz="1600" dirty="0">
              <a:ln w="0"/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kumimoji="1" lang="en-US" altLang="ja-JP" sz="16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025DC9-34FD-43A1-991B-F1A6410B8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6629"/>
            <a:ext cx="2247619" cy="942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CABF05-B9CC-456B-B137-0EED17262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257" y="2062333"/>
            <a:ext cx="2857143" cy="273333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EABAFB1E-B0C4-4957-B9AC-8C0497D2187E}"/>
              </a:ext>
            </a:extLst>
          </p:cNvPr>
          <p:cNvSpPr/>
          <p:nvPr/>
        </p:nvSpPr>
        <p:spPr>
          <a:xfrm>
            <a:off x="3097708" y="2754657"/>
            <a:ext cx="2247619" cy="1066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765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B89CA-C87F-4EA0-B117-DDB5E032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VI.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Report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C081-7B21-4B83-AD90-8A1632666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ja-JP" dirty="0"/>
              <a:t>Users can make settings for outputting report.</a:t>
            </a:r>
          </a:p>
          <a:p>
            <a:pPr lvl="1"/>
            <a:r>
              <a:rPr lang="en-US" altLang="ja-JP" dirty="0"/>
              <a:t>R</a:t>
            </a:r>
            <a:r>
              <a:rPr kumimoji="1" lang="en-US" altLang="ja-JP" dirty="0"/>
              <a:t>eport show information while </a:t>
            </a:r>
            <a:r>
              <a:rPr kumimoji="1" lang="en-US" altLang="ja-JP" dirty="0" err="1"/>
              <a:t>TestAce</a:t>
            </a:r>
            <a:r>
              <a:rPr kumimoji="1" lang="en-US" altLang="ja-JP" dirty="0"/>
              <a:t> is creating data.</a:t>
            </a:r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F601D-6D40-4C20-A570-13F056D6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B30B3-B2DA-499A-BA27-D895AB9F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13552-4DF4-4B38-B15F-D66DCF282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90E5DD5F-05A3-4543-AA04-F12852E9A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F42B51-BF72-4537-A23A-B1A18CD26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09" y="2819400"/>
            <a:ext cx="7152381" cy="1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39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411F-20DC-4818-97E6-1D8CA92A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VI.	</a:t>
            </a:r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 Report (Next)</a:t>
            </a:r>
            <a:endParaRPr kumimoji="1" lang="ja-JP" alt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7C3ADB-8105-4332-9F31-2DAF4DEEA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86176"/>
            <a:ext cx="8229600" cy="450484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66F5B-268D-4FB1-BD48-6E9ADC02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DA307-3683-424D-A011-E88384F3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5A023-1577-48B5-A79C-11368484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9172BF26-B445-4071-8A06-24416CEA6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085" y="-1"/>
            <a:ext cx="1204915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8814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8121-D536-49A6-B0AE-D5C6536E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VII.	Summary</a:t>
            </a:r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1BEC4-32A4-4469-AC42-190BC87A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6BB1D-3A9D-40E2-9230-98BC1FDF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AFC15-6939-4278-8F23-0A733B3F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7310F-8CEA-4662-82F6-44594E8FA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048000"/>
            <a:ext cx="3352800" cy="140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036A2A-6EFD-457D-BEF2-74307A1A9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81400"/>
            <a:ext cx="1180952" cy="1276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5DFA90-5164-452A-850B-6FB234A7A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85" y="5009990"/>
            <a:ext cx="1200000" cy="1257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0A5BDA-60C8-4370-A209-4EAAFE0FF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000" y="3576660"/>
            <a:ext cx="1180952" cy="1276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4B22C9-1AF9-429D-8C76-CEE01F1AE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000" y="4973385"/>
            <a:ext cx="1200000" cy="125714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ABE068-7503-4331-B4F0-9B40EA99A2F4}"/>
              </a:ext>
            </a:extLst>
          </p:cNvPr>
          <p:cNvSpPr/>
          <p:nvPr/>
        </p:nvSpPr>
        <p:spPr>
          <a:xfrm>
            <a:off x="533400" y="3429000"/>
            <a:ext cx="1524000" cy="2971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8D02FF-6B32-452E-832D-8E8EA3C02B2C}"/>
              </a:ext>
            </a:extLst>
          </p:cNvPr>
          <p:cNvSpPr/>
          <p:nvPr/>
        </p:nvSpPr>
        <p:spPr>
          <a:xfrm>
            <a:off x="7010400" y="3456125"/>
            <a:ext cx="1524000" cy="293439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39F96-C754-49D0-8DB8-A699AAF64035}"/>
              </a:ext>
            </a:extLst>
          </p:cNvPr>
          <p:cNvSpPr txBox="1"/>
          <p:nvPr/>
        </p:nvSpPr>
        <p:spPr>
          <a:xfrm>
            <a:off x="790199" y="309054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Input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65DE3C-4D56-4233-B994-D56E01680CB2}"/>
              </a:ext>
            </a:extLst>
          </p:cNvPr>
          <p:cNvSpPr txBox="1"/>
          <p:nvPr/>
        </p:nvSpPr>
        <p:spPr>
          <a:xfrm>
            <a:off x="7280224" y="3124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Output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0E07BF-DA83-4720-B40A-7F8DE9AA7288}"/>
              </a:ext>
            </a:extLst>
          </p:cNvPr>
          <p:cNvSpPr/>
          <p:nvPr/>
        </p:nvSpPr>
        <p:spPr>
          <a:xfrm>
            <a:off x="381000" y="2971800"/>
            <a:ext cx="8305800" cy="3657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71A470A-8F52-4BAB-BA33-D585EF03331B}"/>
              </a:ext>
            </a:extLst>
          </p:cNvPr>
          <p:cNvSpPr/>
          <p:nvPr/>
        </p:nvSpPr>
        <p:spPr>
          <a:xfrm>
            <a:off x="2209800" y="3810000"/>
            <a:ext cx="60960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0EC479C-FF63-45A6-A37E-3011F0FF9C65}"/>
              </a:ext>
            </a:extLst>
          </p:cNvPr>
          <p:cNvSpPr/>
          <p:nvPr/>
        </p:nvSpPr>
        <p:spPr>
          <a:xfrm>
            <a:off x="6337538" y="3886200"/>
            <a:ext cx="609600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21E8AF7-DD74-44D2-BA50-9E4BC004C7FB}"/>
              </a:ext>
            </a:extLst>
          </p:cNvPr>
          <p:cNvSpPr/>
          <p:nvPr/>
        </p:nvSpPr>
        <p:spPr>
          <a:xfrm rot="10800000">
            <a:off x="4191000" y="4543601"/>
            <a:ext cx="685800" cy="5617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5FF76A7-7B44-4E93-9830-F518F491E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809" y="5181600"/>
            <a:ext cx="1152381" cy="12380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94E1BD-8DDB-44B9-9427-FA21B9E36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474409"/>
            <a:ext cx="1373861" cy="1834770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9325825A-BCDF-4324-92B3-410E3DA0D8DF}"/>
              </a:ext>
            </a:extLst>
          </p:cNvPr>
          <p:cNvSpPr/>
          <p:nvPr/>
        </p:nvSpPr>
        <p:spPr>
          <a:xfrm rot="10800000">
            <a:off x="7772400" y="2315797"/>
            <a:ext cx="685800" cy="5617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755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9D37-B78A-4A83-AFB9-45296F6C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VIII.	Thanks your watching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9A860-D94F-4E8E-846B-DCD248F92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B002F-1D46-4D9C-9EFB-7CE51717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C9F0-02EB-4A41-A3D8-A4B8388840CD}" type="datetime1">
              <a:rPr lang="ja-JP" altLang="en-US" smtClean="0"/>
              <a:t>2018/2/1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3ADB-2657-45A6-98E0-BA591763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テストエース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35D13-888C-4606-8478-34393D50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312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9404</TotalTime>
  <Words>1358</Words>
  <Application>Microsoft Office PowerPoint</Application>
  <PresentationFormat>On-screen Show (4:3)</PresentationFormat>
  <Paragraphs>740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微軟正黑體</vt:lpstr>
      <vt:lpstr>ＭＳ Ｐゴシック</vt:lpstr>
      <vt:lpstr>Arial</vt:lpstr>
      <vt:lpstr>Calibri</vt:lpstr>
      <vt:lpstr>Segoe UI</vt:lpstr>
      <vt:lpstr>Times New Roman</vt:lpstr>
      <vt:lpstr>Clarity</vt:lpstr>
      <vt:lpstr>テストエースレボート</vt:lpstr>
      <vt:lpstr>Categories</vt:lpstr>
      <vt:lpstr>Schedule study</vt:lpstr>
      <vt:lpstr>II. Overview</vt:lpstr>
      <vt:lpstr>III. Setting</vt:lpstr>
      <vt:lpstr>III. Setting (Next)</vt:lpstr>
      <vt:lpstr>III. Setting (Next)</vt:lpstr>
      <vt:lpstr>III. Setting (Next)</vt:lpstr>
      <vt:lpstr>III. Setting (Next)</vt:lpstr>
      <vt:lpstr>PowerPoint Presentation</vt:lpstr>
      <vt:lpstr>VI. Data Flow (Next)</vt:lpstr>
      <vt:lpstr>VI. Data Flow (Next)</vt:lpstr>
      <vt:lpstr>VI. Data Flow (Next)</vt:lpstr>
      <vt:lpstr>VI. Data Flow (Next)</vt:lpstr>
      <vt:lpstr>VI. Data Flow (Next)</vt:lpstr>
      <vt:lpstr>VI. Data Flow (Next)</vt:lpstr>
      <vt:lpstr>V. Conversion Type</vt:lpstr>
      <vt:lpstr>V. Conversion Type (Next)</vt:lpstr>
      <vt:lpstr>V. Conversion Type (Next)</vt:lpstr>
      <vt:lpstr>V. Conversion Type (Next)</vt:lpstr>
      <vt:lpstr>V. Conversion Type (Next)</vt:lpstr>
      <vt:lpstr>V. Conversion Type (Next)</vt:lpstr>
      <vt:lpstr>V. Conversion Type (Next)</vt:lpstr>
      <vt:lpstr>V. Conversion Type (Next)</vt:lpstr>
      <vt:lpstr>V. Conversion Type (Next)</vt:lpstr>
      <vt:lpstr>PowerPoint Presentation</vt:lpstr>
      <vt:lpstr>PowerPoint Presentation</vt:lpstr>
      <vt:lpstr>VI.  Report</vt:lpstr>
      <vt:lpstr>VI.  Report (Next)</vt:lpstr>
      <vt:lpstr>VII. Summary</vt:lpstr>
      <vt:lpstr>VIII. Thanks your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SSDB Audit LS &amp;  SSDB Audit RM Product Description</dc:title>
  <dc:creator>duc-tuan</dc:creator>
  <cp:lastModifiedBy>van-thanh</cp:lastModifiedBy>
  <cp:revision>1746</cp:revision>
  <dcterms:created xsi:type="dcterms:W3CDTF">2006-08-16T00:00:00Z</dcterms:created>
  <dcterms:modified xsi:type="dcterms:W3CDTF">2018-02-01T10:08:04Z</dcterms:modified>
</cp:coreProperties>
</file>