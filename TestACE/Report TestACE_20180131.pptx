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76" r:id="rId1"/>
  </p:sldMasterIdLst>
  <p:notesMasterIdLst>
    <p:notesMasterId r:id="rId33"/>
  </p:notesMasterIdLst>
  <p:sldIdLst>
    <p:sldId id="256" r:id="rId2"/>
    <p:sldId id="257" r:id="rId3"/>
    <p:sldId id="318" r:id="rId4"/>
    <p:sldId id="270" r:id="rId5"/>
    <p:sldId id="335" r:id="rId6"/>
    <p:sldId id="331" r:id="rId7"/>
    <p:sldId id="332" r:id="rId8"/>
    <p:sldId id="333" r:id="rId9"/>
    <p:sldId id="334" r:id="rId10"/>
    <p:sldId id="319" r:id="rId11"/>
    <p:sldId id="322" r:id="rId12"/>
    <p:sldId id="323" r:id="rId13"/>
    <p:sldId id="324" r:id="rId14"/>
    <p:sldId id="326" r:id="rId15"/>
    <p:sldId id="328" r:id="rId16"/>
    <p:sldId id="327" r:id="rId17"/>
    <p:sldId id="321" r:id="rId18"/>
    <p:sldId id="299" r:id="rId19"/>
    <p:sldId id="302" r:id="rId20"/>
    <p:sldId id="313" r:id="rId21"/>
    <p:sldId id="315" r:id="rId22"/>
    <p:sldId id="316" r:id="rId23"/>
    <p:sldId id="305" r:id="rId24"/>
    <p:sldId id="317" r:id="rId25"/>
    <p:sldId id="338" r:id="rId26"/>
    <p:sldId id="294" r:id="rId27"/>
    <p:sldId id="262" r:id="rId28"/>
    <p:sldId id="329" r:id="rId29"/>
    <p:sldId id="330" r:id="rId30"/>
    <p:sldId id="336" r:id="rId31"/>
    <p:sldId id="337" r:id="rId32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van-thanh" initials="v" lastIdx="1" clrIdx="0">
    <p:extLst>
      <p:ext uri="{19B8F6BF-5375-455C-9EA6-DF929625EA0E}">
        <p15:presenceInfo xmlns:p15="http://schemas.microsoft.com/office/powerpoint/2012/main" userId="van-thanh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5050"/>
    <a:srgbClr val="FF6699"/>
    <a:srgbClr val="25C6FF"/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324" autoAdjust="0"/>
    <p:restoredTop sz="95703" autoAdjust="0"/>
  </p:normalViewPr>
  <p:slideViewPr>
    <p:cSldViewPr>
      <p:cViewPr varScale="1">
        <p:scale>
          <a:sx n="115" d="100"/>
          <a:sy n="115" d="100"/>
        </p:scale>
        <p:origin x="1458" y="10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commentAuthors" Target="comment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687577F-0D1E-4A59-8F56-8613CA9ADF5B}" type="datetimeFigureOut">
              <a:rPr kumimoji="1" lang="ja-JP" altLang="en-US" smtClean="0"/>
              <a:t>2018/2/2</a:t>
            </a:fld>
            <a:endParaRPr kumimoji="1" lang="ja-JP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AB73F02-AB51-4424-8805-3069CAFA5EF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683209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AB73F02-AB51-4424-8805-3069CAFA5EF2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4302369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ja-JP" dirty="0"/>
              <a:t>Test Ace Installation Guide Confirmation</a:t>
            </a:r>
            <a:br>
              <a:rPr lang="en-US" altLang="ja-JP" dirty="0"/>
            </a:br>
            <a:r>
              <a:rPr lang="en-US" altLang="ja-JP" dirty="0"/>
              <a:t>Test Ace Operation Guide Confirmation</a:t>
            </a:r>
            <a:br>
              <a:rPr lang="en-US" altLang="ja-JP" dirty="0"/>
            </a:br>
            <a:r>
              <a:rPr lang="en-US" altLang="ja-JP" dirty="0"/>
              <a:t>Test ace setting document guide confirmation</a:t>
            </a:r>
            <a:br>
              <a:rPr lang="en-US" altLang="ja-JP" dirty="0"/>
            </a:br>
            <a:r>
              <a:rPr lang="en-US" altLang="ja-JP" dirty="0"/>
              <a:t>Execute installation</a:t>
            </a:r>
            <a:br>
              <a:rPr lang="en-US" altLang="ja-JP" dirty="0"/>
            </a:br>
            <a:r>
              <a:rPr lang="en-US" altLang="ja-JP" dirty="0"/>
              <a:t>Check the contents of the installation guide</a:t>
            </a:r>
            <a:br>
              <a:rPr lang="en-US" altLang="ja-JP" dirty="0"/>
            </a:br>
            <a:r>
              <a:rPr lang="en-US" altLang="ja-JP" dirty="0"/>
              <a:t>Test ace operation check</a:t>
            </a:r>
            <a:br>
              <a:rPr lang="en-US" altLang="ja-JP" dirty="0"/>
            </a:br>
            <a:r>
              <a:rPr lang="en-US" altLang="ja-JP" dirty="0"/>
              <a:t>Confirm the contents of the test ace operation guide</a:t>
            </a:r>
            <a:br>
              <a:rPr lang="en-US" altLang="ja-JP" dirty="0"/>
            </a:br>
            <a:r>
              <a:rPr lang="en-US" altLang="ja-JP" dirty="0"/>
              <a:t>Confirm the contents of the test ace setting guide </a:t>
            </a:r>
            <a:r>
              <a:rPr lang="en-US" altLang="ja-JP" dirty="0" err="1"/>
              <a:t>guide</a:t>
            </a:r>
            <a:br>
              <a:rPr lang="en-US" altLang="ja-JP" dirty="0"/>
            </a:br>
            <a:r>
              <a:rPr lang="en-US" altLang="ja-JP" dirty="0"/>
              <a:t>Test Ace Product Description</a:t>
            </a:r>
            <a:br>
              <a:rPr lang="en-US" altLang="ja-JP" dirty="0"/>
            </a:br>
            <a:r>
              <a:rPr lang="en-US" altLang="ja-JP" dirty="0"/>
              <a:t>Test ace Preparation of product description (Prepare Report)</a:t>
            </a:r>
            <a:br>
              <a:rPr lang="en-US" altLang="ja-JP" dirty="0"/>
            </a:br>
            <a:r>
              <a:rPr lang="en-US" altLang="ja-JP" dirty="0"/>
              <a:t>Test Ace Product Description (Reporting)</a:t>
            </a:r>
            <a:endParaRPr kumimoji="1"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AB73F02-AB51-4424-8805-3069CAFA5EF2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430236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ja-JP" dirty="0"/>
              <a:t>Java learning</a:t>
            </a:r>
            <a:br>
              <a:rPr lang="en-US" altLang="ja-JP" dirty="0"/>
            </a:br>
            <a:r>
              <a:rPr lang="en-US" altLang="ja-JP" dirty="0"/>
              <a:t>Building Eclipse</a:t>
            </a:r>
            <a:br>
              <a:rPr lang="en-US" altLang="ja-JP" dirty="0"/>
            </a:br>
            <a:r>
              <a:rPr lang="en-US" altLang="ja-JP" dirty="0"/>
              <a:t>File I / O</a:t>
            </a:r>
            <a:br>
              <a:rPr lang="en-US" altLang="ja-JP" dirty="0"/>
            </a:br>
            <a:r>
              <a:rPr lang="en-US" altLang="ja-JP" dirty="0"/>
              <a:t>Database I / O</a:t>
            </a:r>
            <a:br>
              <a:rPr lang="en-US" altLang="ja-JP" dirty="0"/>
            </a:br>
            <a:r>
              <a:rPr lang="en-US" altLang="ja-JP" dirty="0"/>
              <a:t>Test Ace User Defined Function</a:t>
            </a:r>
          </a:p>
          <a:p>
            <a:br>
              <a:rPr lang="en-US" altLang="ja-JP" dirty="0"/>
            </a:br>
            <a:r>
              <a:rPr lang="en-US" altLang="ja-JP" dirty="0"/>
              <a:t>"Creating user-defined functions</a:t>
            </a:r>
            <a:br>
              <a:rPr lang="en-US" altLang="ja-JP" dirty="0"/>
            </a:br>
            <a:r>
              <a:rPr lang="en-US" altLang="ja-JP" dirty="0"/>
              <a:t>When there is a primary key constraint in the DB before conversion data,</a:t>
            </a:r>
            <a:br>
              <a:rPr lang="en-US" altLang="ja-JP" dirty="0"/>
            </a:br>
            <a:r>
              <a:rPr lang="en-US" altLang="ja-JP" dirty="0"/>
              <a:t>Consider the transformation that keeps unique even after conversion “</a:t>
            </a:r>
          </a:p>
          <a:p>
            <a:br>
              <a:rPr lang="en-US" altLang="ja-JP" dirty="0"/>
            </a:br>
            <a:r>
              <a:rPr lang="en-US" altLang="ja-JP" dirty="0"/>
              <a:t>User defined function examination</a:t>
            </a:r>
            <a:endParaRPr kumimoji="1"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AB73F02-AB51-4424-8805-3069CAFA5EF2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4302369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AB73F02-AB51-4424-8805-3069CAFA5EF2}" type="slidenum">
              <a:rPr kumimoji="1" lang="ja-JP" altLang="en-US" smtClean="0"/>
              <a:t>10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6129143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AB73F02-AB51-4424-8805-3069CAFA5EF2}" type="slidenum">
              <a:rPr kumimoji="1" lang="ja-JP" altLang="en-US" smtClean="0"/>
              <a:t>11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612914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AB73F02-AB51-4424-8805-3069CAFA5EF2}" type="slidenum">
              <a:rPr kumimoji="1" lang="ja-JP" altLang="en-US" smtClean="0"/>
              <a:t>12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6129143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AB73F02-AB51-4424-8805-3069CAFA5EF2}" type="slidenum">
              <a:rPr kumimoji="1" lang="ja-JP" altLang="en-US" smtClean="0"/>
              <a:t>13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6129143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AB73F02-AB51-4424-8805-3069CAFA5EF2}" type="slidenum">
              <a:rPr kumimoji="1" lang="ja-JP" altLang="en-US" smtClean="0"/>
              <a:t>14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6129143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AB73F02-AB51-4424-8805-3069CAFA5EF2}" type="slidenum">
              <a:rPr kumimoji="1" lang="ja-JP" altLang="en-US" smtClean="0"/>
              <a:t>15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6129143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AB73F02-AB51-4424-8805-3069CAFA5EF2}" type="slidenum">
              <a:rPr kumimoji="1" lang="ja-JP" altLang="en-US" smtClean="0"/>
              <a:t>16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6129143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AB73F02-AB51-4424-8805-3069CAFA5EF2}" type="slidenum">
              <a:rPr kumimoji="1" lang="ja-JP" altLang="en-US" smtClean="0"/>
              <a:t>17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6129143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AB73F02-AB51-4424-8805-3069CAFA5EF2}" type="slidenum">
              <a:rPr kumimoji="1" lang="ja-JP" altLang="en-US" smtClean="0"/>
              <a:t>18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6129143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AB73F02-AB51-4424-8805-3069CAFA5EF2}" type="slidenum">
              <a:rPr kumimoji="1" lang="ja-JP" altLang="en-US" smtClean="0"/>
              <a:t>19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6129143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AB73F02-AB51-4424-8805-3069CAFA5EF2}" type="slidenum">
              <a:rPr kumimoji="1" lang="ja-JP" altLang="en-US" smtClean="0"/>
              <a:t>20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6129143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AB73F02-AB51-4424-8805-3069CAFA5EF2}" type="slidenum">
              <a:rPr kumimoji="1" lang="ja-JP" altLang="en-US" smtClean="0"/>
              <a:t>21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6129143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AB73F02-AB51-4424-8805-3069CAFA5EF2}" type="slidenum">
              <a:rPr kumimoji="1" lang="ja-JP" altLang="en-US" smtClean="0"/>
              <a:t>22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6129143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AB73F02-AB51-4424-8805-3069CAFA5EF2}" type="slidenum">
              <a:rPr kumimoji="1" lang="ja-JP" altLang="en-US" smtClean="0"/>
              <a:t>23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6129143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AB73F02-AB51-4424-8805-3069CAFA5EF2}" type="slidenum">
              <a:rPr kumimoji="1" lang="ja-JP" altLang="en-US" smtClean="0"/>
              <a:t>24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6129143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AB73F02-AB51-4424-8805-3069CAFA5EF2}" type="slidenum">
              <a:rPr kumimoji="1" lang="ja-JP" altLang="en-US" smtClean="0"/>
              <a:t>26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480091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371600"/>
            <a:ext cx="7848600" cy="1927225"/>
          </a:xfrm>
        </p:spPr>
        <p:txBody>
          <a:bodyPr anchor="b">
            <a:noAutofit/>
          </a:bodyPr>
          <a:lstStyle>
            <a:lvl1pPr>
              <a:defRPr sz="5400" cap="all" baseline="0"/>
            </a:lvl1pPr>
          </a:lstStyle>
          <a:p>
            <a:r>
              <a:rPr lang="en-US" altLang="ja-JP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5800" y="3505200"/>
            <a:ext cx="6400800" cy="1752600"/>
          </a:xfrm>
        </p:spPr>
        <p:txBody>
          <a:bodyPr/>
          <a:lstStyle>
            <a:lvl1pPr marL="0" indent="0" algn="l"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ja-JP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2B8C91-D460-4631-A589-D711838953B7}" type="datetime1">
              <a:rPr lang="ja-JP" altLang="en-US" smtClean="0"/>
              <a:t>2018/2/2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ja-JP" altLang="en-US"/>
              <a:t>テストエース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8" name="Straight Connector 7"/>
          <p:cNvCxnSpPr/>
          <p:nvPr/>
        </p:nvCxnSpPr>
        <p:spPr>
          <a:xfrm>
            <a:off x="685800" y="3398520"/>
            <a:ext cx="7848600" cy="1588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ja-JP"/>
              <a:t>Click to edit Master text styles</a:t>
            </a:r>
          </a:p>
          <a:p>
            <a:pPr lvl="1"/>
            <a:r>
              <a:rPr lang="en-US" altLang="ja-JP"/>
              <a:t>Second level</a:t>
            </a:r>
          </a:p>
          <a:p>
            <a:pPr lvl="2"/>
            <a:r>
              <a:rPr lang="en-US" altLang="ja-JP"/>
              <a:t>Third level</a:t>
            </a:r>
          </a:p>
          <a:p>
            <a:pPr lvl="3"/>
            <a:r>
              <a:rPr lang="en-US" altLang="ja-JP"/>
              <a:t>Fourth level</a:t>
            </a:r>
          </a:p>
          <a:p>
            <a:pPr lvl="4"/>
            <a:r>
              <a:rPr lang="en-US" altLang="ja-JP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D8C9F0-02EB-4A41-A3D8-A4B8388840CD}" type="datetime1">
              <a:rPr lang="ja-JP" altLang="en-US" smtClean="0"/>
              <a:t>2018/2/2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ja-JP" altLang="en-US"/>
              <a:t>テストエース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2362200"/>
            <a:ext cx="7772400" cy="2200275"/>
          </a:xfrm>
        </p:spPr>
        <p:txBody>
          <a:bodyPr anchor="b">
            <a:normAutofit/>
          </a:bodyPr>
          <a:lstStyle>
            <a:lvl1pPr algn="l">
              <a:defRPr sz="4800" b="0" cap="all"/>
            </a:lvl1pPr>
          </a:lstStyle>
          <a:p>
            <a:r>
              <a:rPr lang="en-US" altLang="ja-JP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4626864"/>
            <a:ext cx="7772400" cy="1500187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ja-JP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423585-F1F1-45F3-88AA-9E37ACA5A51C}" type="datetime1">
              <a:rPr lang="ja-JP" altLang="en-US" smtClean="0"/>
              <a:t>2018/2/2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ja-JP" altLang="en-US"/>
              <a:t>テストエース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7" name="Straight Connector 6"/>
          <p:cNvCxnSpPr/>
          <p:nvPr/>
        </p:nvCxnSpPr>
        <p:spPr>
          <a:xfrm>
            <a:off x="731520" y="4599432"/>
            <a:ext cx="7848600" cy="1588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73352"/>
            <a:ext cx="4038600" cy="471830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ja-JP"/>
              <a:t>Click to edit Master text styles</a:t>
            </a:r>
          </a:p>
          <a:p>
            <a:pPr lvl="1"/>
            <a:r>
              <a:rPr lang="en-US" altLang="ja-JP"/>
              <a:t>Second level</a:t>
            </a:r>
          </a:p>
          <a:p>
            <a:pPr lvl="2"/>
            <a:r>
              <a:rPr lang="en-US" altLang="ja-JP"/>
              <a:t>Third level</a:t>
            </a:r>
          </a:p>
          <a:p>
            <a:pPr lvl="3"/>
            <a:r>
              <a:rPr lang="en-US" altLang="ja-JP"/>
              <a:t>Fourth level</a:t>
            </a:r>
          </a:p>
          <a:p>
            <a:pPr lvl="4"/>
            <a:r>
              <a:rPr lang="en-US" altLang="ja-JP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73352"/>
            <a:ext cx="4038600" cy="471830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ja-JP"/>
              <a:t>Click to edit Master text styles</a:t>
            </a:r>
          </a:p>
          <a:p>
            <a:pPr lvl="1"/>
            <a:r>
              <a:rPr lang="en-US" altLang="ja-JP"/>
              <a:t>Second level</a:t>
            </a:r>
          </a:p>
          <a:p>
            <a:pPr lvl="2"/>
            <a:r>
              <a:rPr lang="en-US" altLang="ja-JP"/>
              <a:t>Third level</a:t>
            </a:r>
          </a:p>
          <a:p>
            <a:pPr lvl="3"/>
            <a:r>
              <a:rPr lang="en-US" altLang="ja-JP"/>
              <a:t>Fourth level</a:t>
            </a:r>
          </a:p>
          <a:p>
            <a:pPr lvl="4"/>
            <a:r>
              <a:rPr lang="en-US" altLang="ja-JP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D8C74F-A28F-42CA-9F6F-89269571DDE2}" type="datetime1">
              <a:rPr lang="ja-JP" altLang="en-US" smtClean="0"/>
              <a:t>2018/2/2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ja-JP" altLang="en-US"/>
              <a:t>テストエース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ja-JP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76400"/>
            <a:ext cx="3931920" cy="639762"/>
          </a:xfrm>
          <a:noFill/>
          <a:ln>
            <a:noFill/>
          </a:ln>
          <a:effectLst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none"/>
        </p:style>
        <p:txBody>
          <a:bodyPr anchor="ctr">
            <a:normAutofit/>
          </a:bodyPr>
          <a:lstStyle>
            <a:lvl1pPr marL="0" indent="0" algn="ctr">
              <a:buNone/>
              <a:defRPr sz="2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ja-JP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438400"/>
            <a:ext cx="393192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ja-JP"/>
              <a:t>Click to edit Master text styles</a:t>
            </a:r>
          </a:p>
          <a:p>
            <a:pPr lvl="1"/>
            <a:r>
              <a:rPr lang="en-US" altLang="ja-JP"/>
              <a:t>Second level</a:t>
            </a:r>
          </a:p>
          <a:p>
            <a:pPr lvl="2"/>
            <a:r>
              <a:rPr lang="en-US" altLang="ja-JP"/>
              <a:t>Third level</a:t>
            </a:r>
          </a:p>
          <a:p>
            <a:pPr lvl="3"/>
            <a:r>
              <a:rPr lang="en-US" altLang="ja-JP"/>
              <a:t>Fourth level</a:t>
            </a:r>
          </a:p>
          <a:p>
            <a:pPr lvl="4"/>
            <a:r>
              <a:rPr lang="en-US" altLang="ja-JP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4880" y="1676400"/>
            <a:ext cx="3931920" cy="639762"/>
          </a:xfrm>
          <a:noFill/>
          <a:ln>
            <a:noFill/>
          </a:ln>
          <a:effectLst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none"/>
        </p:style>
        <p:txBody>
          <a:bodyPr anchor="ctr">
            <a:normAutofit/>
          </a:bodyPr>
          <a:lstStyle>
            <a:lvl1pPr marL="0" indent="0" algn="ctr">
              <a:buNone/>
              <a:defRPr lang="en-US" sz="2000" b="0" kern="1200" dirty="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ja-JP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4880" y="2438400"/>
            <a:ext cx="393192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ja-JP"/>
              <a:t>Click to edit Master text styles</a:t>
            </a:r>
          </a:p>
          <a:p>
            <a:pPr lvl="1"/>
            <a:r>
              <a:rPr lang="en-US" altLang="ja-JP"/>
              <a:t>Second level</a:t>
            </a:r>
          </a:p>
          <a:p>
            <a:pPr lvl="2"/>
            <a:r>
              <a:rPr lang="en-US" altLang="ja-JP"/>
              <a:t>Third level</a:t>
            </a:r>
          </a:p>
          <a:p>
            <a:pPr lvl="3"/>
            <a:r>
              <a:rPr lang="en-US" altLang="ja-JP"/>
              <a:t>Fourth level</a:t>
            </a:r>
          </a:p>
          <a:p>
            <a:pPr lvl="4"/>
            <a:r>
              <a:rPr lang="en-US" altLang="ja-JP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E68CCC-EA1A-48B4-9393-193D57704F58}" type="datetime1">
              <a:rPr lang="ja-JP" altLang="en-US" smtClean="0"/>
              <a:t>2018/2/2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ja-JP" altLang="en-US"/>
              <a:t>テストエース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1" name="Straight Connector 10"/>
          <p:cNvCxnSpPr/>
          <p:nvPr/>
        </p:nvCxnSpPr>
        <p:spPr>
          <a:xfrm rot="5400000">
            <a:off x="2217817" y="4045823"/>
            <a:ext cx="4709160" cy="794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624922-A4A1-4949-98B1-2510BA045BF3}" type="datetime1">
              <a:rPr lang="ja-JP" altLang="en-US" smtClean="0"/>
              <a:t>2018/2/2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ja-JP" altLang="en-US"/>
              <a:t>テストエース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FA8C72-E184-4A4C-96F9-27EB60D60E4D}" type="datetime1">
              <a:rPr lang="ja-JP" altLang="en-US" smtClean="0"/>
              <a:t>2018/2/2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ja-JP" altLang="en-US"/>
              <a:t>テストエース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92080"/>
            <a:ext cx="2139696" cy="1261872"/>
          </a:xfrm>
        </p:spPr>
        <p:txBody>
          <a:bodyPr anchor="b">
            <a:noAutofit/>
          </a:bodyPr>
          <a:lstStyle>
            <a:lvl1pPr algn="l">
              <a:defRPr sz="2400" b="0"/>
            </a:lvl1pPr>
          </a:lstStyle>
          <a:p>
            <a:r>
              <a:rPr lang="en-US" altLang="ja-JP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71800" y="792080"/>
            <a:ext cx="5715000" cy="557784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ja-JP"/>
              <a:t>Click to edit Master text styles</a:t>
            </a:r>
          </a:p>
          <a:p>
            <a:pPr lvl="1"/>
            <a:r>
              <a:rPr lang="en-US" altLang="ja-JP"/>
              <a:t>Second level</a:t>
            </a:r>
          </a:p>
          <a:p>
            <a:pPr lvl="2"/>
            <a:r>
              <a:rPr lang="en-US" altLang="ja-JP"/>
              <a:t>Third level</a:t>
            </a:r>
          </a:p>
          <a:p>
            <a:pPr lvl="3"/>
            <a:r>
              <a:rPr lang="en-US" altLang="ja-JP"/>
              <a:t>Fourth level</a:t>
            </a:r>
          </a:p>
          <a:p>
            <a:pPr lvl="4"/>
            <a:r>
              <a:rPr lang="en-US" altLang="ja-JP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2130552"/>
            <a:ext cx="2139696" cy="424361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ja-JP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EDB99A-C8B3-4481-ABF6-15C442DD0B25}" type="datetime1">
              <a:rPr lang="ja-JP" altLang="en-US" smtClean="0"/>
              <a:t>2018/2/2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ja-JP" altLang="en-US"/>
              <a:t>テストエース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9" name="Straight Connector 8"/>
          <p:cNvCxnSpPr/>
          <p:nvPr/>
        </p:nvCxnSpPr>
        <p:spPr>
          <a:xfrm rot="5400000">
            <a:off x="-13116" y="3580206"/>
            <a:ext cx="5577840" cy="1588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92480"/>
            <a:ext cx="2142680" cy="126492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altLang="ja-JP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858610" y="838201"/>
            <a:ext cx="5904390" cy="5500456"/>
          </a:xfrm>
          <a:solidFill>
            <a:schemeClr val="bg2"/>
          </a:solidFill>
          <a:ln w="76200">
            <a:solidFill>
              <a:srgbClr val="FFFFFF"/>
            </a:solidFill>
            <a:miter lim="800000"/>
          </a:ln>
          <a:effectLst>
            <a:outerShdw blurRad="50800" dist="12700" dir="5400000" algn="t" rotWithShape="0">
              <a:prstClr val="black">
                <a:alpha val="59000"/>
              </a:prstClr>
            </a:outerShdw>
          </a:effectLst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ja-JP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133600"/>
            <a:ext cx="2139696" cy="424281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ja-JP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AE409-9887-41BF-80EF-F38C03CCB4A5}" type="datetime1">
              <a:rPr lang="ja-JP" altLang="en-US" smtClean="0"/>
              <a:t>2018/2/2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ja-JP" altLang="en-US"/>
              <a:t>テストエース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ja-JP"/>
              <a:t>Click to edit Master text styles</a:t>
            </a:r>
          </a:p>
          <a:p>
            <a:pPr lvl="1"/>
            <a:r>
              <a:rPr lang="en-US" altLang="ja-JP"/>
              <a:t>Second level</a:t>
            </a:r>
          </a:p>
          <a:p>
            <a:pPr lvl="2"/>
            <a:r>
              <a:rPr lang="en-US" altLang="ja-JP"/>
              <a:t>Third level</a:t>
            </a:r>
          </a:p>
          <a:p>
            <a:pPr lvl="3"/>
            <a:r>
              <a:rPr lang="en-US" altLang="ja-JP"/>
              <a:t>Fourth level</a:t>
            </a:r>
          </a:p>
          <a:p>
            <a:pPr lvl="4"/>
            <a:r>
              <a:rPr lang="en-US" altLang="ja-JP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7EB5D2-6EC9-4218-BA1D-7E2C8EE42EE1}" type="datetime1">
              <a:rPr lang="ja-JP" altLang="en-US" smtClean="0"/>
              <a:t>2018/2/2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ja-JP" altLang="en-US"/>
              <a:t>テストエース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609600"/>
            <a:ext cx="2057400" cy="5867400"/>
          </a:xfrm>
        </p:spPr>
        <p:txBody>
          <a:bodyPr vert="eaVert" anchor="b"/>
          <a:lstStyle/>
          <a:p>
            <a:r>
              <a:rPr lang="en-US" altLang="ja-JP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609600"/>
            <a:ext cx="6019800" cy="5867400"/>
          </a:xfrm>
        </p:spPr>
        <p:txBody>
          <a:bodyPr vert="eaVert"/>
          <a:lstStyle/>
          <a:p>
            <a:pPr lvl="0"/>
            <a:r>
              <a:rPr lang="en-US" altLang="ja-JP"/>
              <a:t>Click to edit Master text styles</a:t>
            </a:r>
          </a:p>
          <a:p>
            <a:pPr lvl="1"/>
            <a:r>
              <a:rPr lang="en-US" altLang="ja-JP"/>
              <a:t>Second level</a:t>
            </a:r>
          </a:p>
          <a:p>
            <a:pPr lvl="2"/>
            <a:r>
              <a:rPr lang="en-US" altLang="ja-JP"/>
              <a:t>Third level</a:t>
            </a:r>
          </a:p>
          <a:p>
            <a:pPr lvl="3"/>
            <a:r>
              <a:rPr lang="en-US" altLang="ja-JP"/>
              <a:t>Fourth level</a:t>
            </a:r>
          </a:p>
          <a:p>
            <a:pPr lvl="4"/>
            <a:r>
              <a:rPr lang="en-US" altLang="ja-JP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CE762-C08F-406B-87F7-AD6862A92762}" type="datetime1">
              <a:rPr lang="ja-JP" altLang="en-US" smtClean="0"/>
              <a:t>2018/2/2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ja-JP" altLang="en-US"/>
              <a:t>テストエース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220786"/>
            <a:ext cx="9144000" cy="228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533400"/>
            <a:ext cx="8229600" cy="990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ja-JP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876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ja-JP"/>
              <a:t>Click to edit Master text styles</a:t>
            </a:r>
          </a:p>
          <a:p>
            <a:pPr lvl="1"/>
            <a:r>
              <a:rPr lang="en-US" altLang="ja-JP"/>
              <a:t>Second level</a:t>
            </a:r>
          </a:p>
          <a:p>
            <a:pPr lvl="2"/>
            <a:r>
              <a:rPr lang="en-US" altLang="ja-JP"/>
              <a:t>Third level</a:t>
            </a:r>
          </a:p>
          <a:p>
            <a:pPr lvl="3"/>
            <a:r>
              <a:rPr lang="en-US" altLang="ja-JP"/>
              <a:t>Fourth level</a:t>
            </a:r>
          </a:p>
          <a:p>
            <a:pPr lvl="4"/>
            <a:r>
              <a:rPr lang="en-US" altLang="ja-JP"/>
              <a:t>Fifth level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18288"/>
            <a:ext cx="2895600" cy="3291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rgbClr val="FFFFFF"/>
                </a:solidFill>
              </a:defRPr>
            </a:lvl1pPr>
          </a:lstStyle>
          <a:p>
            <a:fld id="{918F5B78-8F87-4961-9503-9E4A429D7D59}" type="datetime1">
              <a:rPr lang="ja-JP" altLang="en-US" smtClean="0"/>
              <a:t>2018/2/2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429000" y="18288"/>
            <a:ext cx="4114800" cy="3291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FFFFFF"/>
                </a:solidFill>
              </a:defRPr>
            </a:lvl1pPr>
          </a:lstStyle>
          <a:p>
            <a:r>
              <a:rPr lang="ja-JP" altLang="en-US"/>
              <a:t>テストエース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620000" y="18288"/>
            <a:ext cx="1066800" cy="3291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1">
                <a:solidFill>
                  <a:srgbClr val="FFFFFF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77" r:id="rId1"/>
    <p:sldLayoutId id="2147483878" r:id="rId2"/>
    <p:sldLayoutId id="2147483879" r:id="rId3"/>
    <p:sldLayoutId id="2147483880" r:id="rId4"/>
    <p:sldLayoutId id="2147483881" r:id="rId5"/>
    <p:sldLayoutId id="2147483882" r:id="rId6"/>
    <p:sldLayoutId id="2147483883" r:id="rId7"/>
    <p:sldLayoutId id="2147483884" r:id="rId8"/>
    <p:sldLayoutId id="2147483885" r:id="rId9"/>
    <p:sldLayoutId id="2147483886" r:id="rId10"/>
    <p:sldLayoutId id="2147483887" r:id="rId11"/>
  </p:sldLayoutIdLst>
  <p:hf hdr="0"/>
  <p:txStyles>
    <p:titleStyle>
      <a:lvl1pPr algn="l" defTabSz="914400" rtl="0" eaLnBrk="1" latinLnBrk="0" hangingPunct="1">
        <a:spcBef>
          <a:spcPct val="0"/>
        </a:spcBef>
        <a:buNone/>
        <a:defRPr kumimoji="1" sz="4000" kern="1200" spc="-1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spcBef>
          <a:spcPct val="20000"/>
        </a:spcBef>
        <a:buClr>
          <a:schemeClr val="accent1"/>
        </a:buClr>
        <a:buSzPct val="85000"/>
        <a:buFont typeface="Arial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spcBef>
          <a:spcPct val="20000"/>
        </a:spcBef>
        <a:buClr>
          <a:schemeClr val="accent1"/>
        </a:buClr>
        <a:buSzPct val="85000"/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spcBef>
          <a:spcPct val="20000"/>
        </a:spcBef>
        <a:buClr>
          <a:schemeClr val="accent1"/>
        </a:buClr>
        <a:buSzPct val="90000"/>
        <a:buFont typeface="Arial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188720" indent="-137160" algn="l" defTabSz="914400" rtl="0" eaLnBrk="1" latinLnBrk="0" hangingPunct="1">
        <a:spcBef>
          <a:spcPct val="20000"/>
        </a:spcBef>
        <a:buClr>
          <a:schemeClr val="accent1"/>
        </a:buClr>
        <a:buSzPct val="100000"/>
        <a:buFont typeface="Arial" pitchFamily="34" charset="0"/>
        <a:buChar char="•"/>
        <a:defRPr kumimoji="1" sz="140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137160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kumimoji="1" sz="1300" kern="1200">
          <a:solidFill>
            <a:schemeClr val="tx1"/>
          </a:solidFill>
          <a:latin typeface="+mn-lt"/>
          <a:ea typeface="+mn-ea"/>
          <a:cs typeface="+mn-cs"/>
        </a:defRPr>
      </a:lvl6pPr>
      <a:lvl7pPr marL="155448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kumimoji="1" sz="1300" kern="1200">
          <a:solidFill>
            <a:schemeClr val="tx1"/>
          </a:solidFill>
          <a:latin typeface="+mn-lt"/>
          <a:ea typeface="+mn-ea"/>
          <a:cs typeface="+mn-cs"/>
        </a:defRPr>
      </a:lvl7pPr>
      <a:lvl8pPr marL="173736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kumimoji="1" sz="1300" kern="1200">
          <a:solidFill>
            <a:schemeClr val="tx1"/>
          </a:solidFill>
          <a:latin typeface="+mn-lt"/>
          <a:ea typeface="+mn-ea"/>
          <a:cs typeface="+mn-cs"/>
        </a:defRPr>
      </a:lvl8pPr>
      <a:lvl9pPr marL="192024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kumimoji="1" sz="1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2.png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2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10" Type="http://schemas.openxmlformats.org/officeDocument/2006/relationships/image" Target="../media/image38.png"/><Relationship Id="rId4" Type="http://schemas.openxmlformats.org/officeDocument/2006/relationships/image" Target="../media/image32.png"/><Relationship Id="rId9" Type="http://schemas.openxmlformats.org/officeDocument/2006/relationships/image" Target="../media/image3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7" Type="http://schemas.openxmlformats.org/officeDocument/2006/relationships/image" Target="../media/image2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C0410CC5-C10A-47EC-BE07-FEC9B95019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E5CAF-9700-4324-ABA8-6BCAB979A929}" type="datetime1">
              <a:rPr lang="ja-JP" altLang="en-US" smtClean="0"/>
              <a:t>2018/2/2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492B457-3564-4108-AF11-E28215A39D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</a:t>
            </a:fld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0FF0E7BF-2A1A-4E58-A121-C99AEB09C3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ja-JP" altLang="en-US"/>
              <a:t>テストエース</a:t>
            </a:r>
            <a:endParaRPr lang="en-US" dirty="0"/>
          </a:p>
        </p:txBody>
      </p:sp>
      <p:pic>
        <p:nvPicPr>
          <p:cNvPr id="13" name="Picture 3">
            <a:extLst>
              <a:ext uri="{FF2B5EF4-FFF2-40B4-BE49-F238E27FC236}">
                <a16:creationId xmlns:a16="http://schemas.microsoft.com/office/drawing/2014/main" id="{F805EE42-653F-47AF-9436-88E27BEA14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39085" y="-1"/>
            <a:ext cx="1204915" cy="3810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2C67EC30-1244-4066-9F39-511AF723626F}"/>
              </a:ext>
            </a:extLst>
          </p:cNvPr>
          <p:cNvSpPr/>
          <p:nvPr/>
        </p:nvSpPr>
        <p:spPr>
          <a:xfrm>
            <a:off x="2551062" y="2057400"/>
            <a:ext cx="3801041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ja-JP" altLang="en-US" sz="5400" b="1" cap="none" spc="0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pattFill prst="dkUpDiag">
                  <a:fgClr>
                    <a:schemeClr val="tx2"/>
                  </a:fgClr>
                  <a:bgClr>
                    <a:schemeClr val="tx2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テストエース</a:t>
            </a:r>
            <a:endParaRPr lang="en-US" altLang="ja-JP" sz="5400" b="1" cap="none" spc="0" dirty="0">
              <a:ln w="12700">
                <a:solidFill>
                  <a:schemeClr val="tx2">
                    <a:lumMod val="75000"/>
                  </a:schemeClr>
                </a:solidFill>
                <a:prstDash val="solid"/>
              </a:ln>
              <a:pattFill prst="dkUpDiag">
                <a:fgClr>
                  <a:schemeClr val="tx2"/>
                </a:fgClr>
                <a:bgClr>
                  <a:schemeClr val="tx2">
                    <a:lumMod val="20000"/>
                    <a:lumOff val="80000"/>
                  </a:schemeClr>
                </a:bgClr>
              </a:pattFill>
              <a:effectLst>
                <a:outerShdw dist="38100" dir="2640000" algn="bl" rotWithShape="0">
                  <a:schemeClr val="tx2">
                    <a:lumMod val="75000"/>
                  </a:schemeClr>
                </a:outerShdw>
              </a:effectLst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3973251-C9E5-4D6F-AE48-29413471A55C}"/>
              </a:ext>
            </a:extLst>
          </p:cNvPr>
          <p:cNvSpPr/>
          <p:nvPr/>
        </p:nvSpPr>
        <p:spPr>
          <a:xfrm>
            <a:off x="624784" y="3962400"/>
            <a:ext cx="3804631" cy="1015663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kumimoji="1" lang="en-US" altLang="ja-JP" sz="2000" dirty="0"/>
              <a:t>Implementer: </a:t>
            </a:r>
            <a:r>
              <a:rPr kumimoji="1" lang="ja-JP" altLang="en-US" sz="2000" dirty="0"/>
              <a:t>Ｈ</a:t>
            </a:r>
            <a:r>
              <a:rPr kumimoji="1" lang="en-US" altLang="ja-JP" sz="2000" dirty="0" err="1"/>
              <a:t>uynh</a:t>
            </a:r>
            <a:r>
              <a:rPr kumimoji="1" lang="ja-JP" altLang="en-US" sz="2000" dirty="0"/>
              <a:t> </a:t>
            </a:r>
            <a:r>
              <a:rPr kumimoji="1" lang="en-US" altLang="ja-JP" sz="2000" dirty="0"/>
              <a:t>Van</a:t>
            </a:r>
            <a:r>
              <a:rPr kumimoji="1" lang="ja-JP" altLang="en-US" sz="2000" dirty="0"/>
              <a:t> </a:t>
            </a:r>
            <a:r>
              <a:rPr kumimoji="1" lang="en-US" altLang="ja-JP" sz="2000" dirty="0"/>
              <a:t>Thanh</a:t>
            </a:r>
          </a:p>
          <a:p>
            <a:r>
              <a:rPr kumimoji="1" lang="en-US" altLang="ja-JP" sz="2000" dirty="0"/>
              <a:t>From 2018/01/10 to 2018/02/02</a:t>
            </a:r>
          </a:p>
          <a:p>
            <a:r>
              <a:rPr kumimoji="1" lang="en-US" altLang="ja-JP" sz="2000" dirty="0"/>
              <a:t>Version: TESTACE_V7.2.71201</a:t>
            </a:r>
          </a:p>
        </p:txBody>
      </p:sp>
    </p:spTree>
    <p:extLst>
      <p:ext uri="{BB962C8B-B14F-4D97-AF65-F5344CB8AC3E}">
        <p14:creationId xmlns:p14="http://schemas.microsoft.com/office/powerpoint/2010/main" val="30367539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ja-JP" dirty="0"/>
              <a:t>Categor</a:t>
            </a:r>
            <a:r>
              <a:rPr lang="en-US" altLang="ja-JP" dirty="0"/>
              <a:t>ies</a:t>
            </a:r>
            <a:endParaRPr kumimoji="1" lang="ja-JP" altLang="en-US" sz="4000" dirty="0"/>
          </a:p>
        </p:txBody>
      </p:sp>
      <p:sp>
        <p:nvSpPr>
          <p:cNvPr id="7" name="Subtitle 2"/>
          <p:cNvSpPr>
            <a:spLocks noGrp="1"/>
          </p:cNvSpPr>
          <p:nvPr>
            <p:ph idx="1"/>
          </p:nvPr>
        </p:nvSpPr>
        <p:spPr>
          <a:xfrm>
            <a:off x="533400" y="1524000"/>
            <a:ext cx="8153400" cy="4473209"/>
          </a:xfrm>
        </p:spPr>
        <p:txBody>
          <a:bodyPr>
            <a:normAutofit/>
          </a:bodyPr>
          <a:lstStyle/>
          <a:p>
            <a:pPr marL="571500" indent="-571500" algn="just">
              <a:buFont typeface="+mj-lt"/>
              <a:buAutoNum type="romanUcPeriod"/>
            </a:pPr>
            <a:r>
              <a:rPr lang="en-US" altLang="ja-JP" sz="2800" dirty="0">
                <a:latin typeface="Times New Roman" panose="02020603050405020304" pitchFamily="18" charset="0"/>
                <a:ea typeface="Segoe UI" panose="020B0502040204020203" pitchFamily="34" charset="0"/>
                <a:cs typeface="Times New Roman" panose="02020603050405020304" pitchFamily="18" charset="0"/>
              </a:rPr>
              <a:t>Schedule Study</a:t>
            </a:r>
          </a:p>
          <a:p>
            <a:pPr marL="571500" indent="-571500" algn="just">
              <a:buFont typeface="+mj-lt"/>
              <a:buAutoNum type="romanUcPeriod"/>
            </a:pPr>
            <a:r>
              <a:rPr lang="en-US" altLang="ja-JP" sz="2800" dirty="0">
                <a:latin typeface="Times New Roman" panose="02020603050405020304" pitchFamily="18" charset="0"/>
                <a:ea typeface="Segoe UI" panose="020B0502040204020203" pitchFamily="34" charset="0"/>
                <a:cs typeface="Times New Roman" panose="02020603050405020304" pitchFamily="18" charset="0"/>
              </a:rPr>
              <a:t>Overview</a:t>
            </a:r>
          </a:p>
          <a:p>
            <a:pPr marL="514350" indent="-514350" algn="just">
              <a:buFont typeface="+mj-lt"/>
              <a:buAutoNum type="romanUcPeriod"/>
            </a:pPr>
            <a:r>
              <a:rPr lang="en-US" altLang="ja-JP" dirty="0">
                <a:latin typeface="Times New Roman" panose="02020603050405020304" pitchFamily="18" charset="0"/>
                <a:ea typeface="Segoe UI" panose="020B0502040204020203" pitchFamily="34" charset="0"/>
                <a:cs typeface="Times New Roman" panose="02020603050405020304" pitchFamily="18" charset="0"/>
              </a:rPr>
              <a:t>Setting</a:t>
            </a:r>
            <a:endParaRPr lang="en-US" altLang="ja-JP" sz="2400" dirty="0">
              <a:latin typeface="Times New Roman" panose="02020603050405020304" pitchFamily="18" charset="0"/>
              <a:ea typeface="Segoe UI" panose="020B0502040204020203" pitchFamily="34" charset="0"/>
              <a:cs typeface="Times New Roman" panose="02020603050405020304" pitchFamily="18" charset="0"/>
            </a:endParaRPr>
          </a:p>
          <a:p>
            <a:pPr marL="514350" indent="-514350" algn="just">
              <a:buFont typeface="+mj-lt"/>
              <a:buAutoNum type="romanUcPeriod"/>
            </a:pPr>
            <a:r>
              <a:rPr lang="en-US" altLang="ja-JP" sz="2400" dirty="0">
                <a:latin typeface="Times New Roman" panose="02020603050405020304" pitchFamily="18" charset="0"/>
                <a:ea typeface="Segoe UI" panose="020B0502040204020203" pitchFamily="34" charset="0"/>
                <a:cs typeface="Times New Roman" panose="02020603050405020304" pitchFamily="18" charset="0"/>
              </a:rPr>
              <a:t>Data Flow</a:t>
            </a:r>
          </a:p>
          <a:p>
            <a:pPr marL="514350" indent="-514350" algn="just">
              <a:buFont typeface="+mj-lt"/>
              <a:buAutoNum type="romanUcPeriod"/>
            </a:pPr>
            <a:r>
              <a:rPr lang="en-US" altLang="ja-JP" dirty="0">
                <a:latin typeface="Times New Roman" panose="02020603050405020304" pitchFamily="18" charset="0"/>
                <a:ea typeface="Segoe UI" panose="020B0502040204020203" pitchFamily="34" charset="0"/>
                <a:cs typeface="Times New Roman" panose="02020603050405020304" pitchFamily="18" charset="0"/>
              </a:rPr>
              <a:t>Conversion Type</a:t>
            </a:r>
          </a:p>
          <a:p>
            <a:pPr marL="514350" indent="-514350" algn="just">
              <a:buFont typeface="+mj-lt"/>
              <a:buAutoNum type="romanUcPeriod"/>
            </a:pPr>
            <a:r>
              <a:rPr lang="en-US" altLang="ja-JP" sz="2800" dirty="0">
                <a:latin typeface="Times New Roman" panose="02020603050405020304" pitchFamily="18" charset="0"/>
                <a:ea typeface="Segoe UI" panose="020B0502040204020203" pitchFamily="34" charset="0"/>
                <a:cs typeface="Times New Roman" panose="02020603050405020304" pitchFamily="18" charset="0"/>
              </a:rPr>
              <a:t>Report</a:t>
            </a:r>
          </a:p>
          <a:p>
            <a:pPr marL="571500" indent="-571500" algn="just">
              <a:buFont typeface="+mj-lt"/>
              <a:buAutoNum type="romanUcPeriod"/>
            </a:pPr>
            <a:r>
              <a:rPr lang="en-US" altLang="ja-JP" sz="2800" dirty="0">
                <a:latin typeface="Times New Roman" panose="02020603050405020304" pitchFamily="18" charset="0"/>
                <a:ea typeface="Segoe UI" panose="020B0502040204020203" pitchFamily="34" charset="0"/>
                <a:cs typeface="Times New Roman" panose="02020603050405020304" pitchFamily="18" charset="0"/>
              </a:rPr>
              <a:t>Summary</a:t>
            </a:r>
          </a:p>
          <a:p>
            <a:pPr marL="571500" indent="-571500" algn="just">
              <a:buFont typeface="+mj-lt"/>
              <a:buAutoNum type="romanUcPeriod"/>
            </a:pPr>
            <a:r>
              <a:rPr kumimoji="1" lang="en-US" altLang="ja-JP" sz="2800" dirty="0">
                <a:latin typeface="Times New Roman" panose="02020603050405020304" pitchFamily="18" charset="0"/>
                <a:ea typeface="Segoe UI" panose="020B0502040204020203" pitchFamily="34" charset="0"/>
                <a:cs typeface="Times New Roman" panose="02020603050405020304" pitchFamily="18" charset="0"/>
              </a:rPr>
              <a:t>Thank you</a:t>
            </a:r>
            <a:endParaRPr kumimoji="1" lang="ja-JP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EFAB9E44-885B-4A28-9880-A0F6B9A209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69EED-63CD-4F8A-86CB-11AD3891A3EC}" type="datetime1">
              <a:rPr lang="ja-JP" altLang="en-US" smtClean="0"/>
              <a:t>2018/2/2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C740EF0C-6A9C-4D37-8F0D-1FBE0E092C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ja-JP" altLang="en-US"/>
              <a:t>テストエース</a:t>
            </a:r>
            <a:endParaRPr lang="en-US" dirty="0"/>
          </a:p>
        </p:txBody>
      </p:sp>
      <p:pic>
        <p:nvPicPr>
          <p:cNvPr id="11" name="Picture 3">
            <a:extLst>
              <a:ext uri="{FF2B5EF4-FFF2-40B4-BE49-F238E27FC236}">
                <a16:creationId xmlns:a16="http://schemas.microsoft.com/office/drawing/2014/main" id="{DD10B942-CDC5-428E-A61E-42C3351AFD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39085" y="-1"/>
            <a:ext cx="1204915" cy="3810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2102600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857250" indent="-857250">
              <a:buFont typeface="+mj-lt"/>
              <a:buAutoNum type="romanUcPeriod"/>
            </a:pPr>
            <a:r>
              <a:rPr lang="en-US" altLang="ja-JP" sz="4000" dirty="0"/>
              <a:t>Schedule study</a:t>
            </a:r>
            <a:endParaRPr kumimoji="1" lang="ja-JP" altLang="en-US" sz="4000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1084499-879F-492F-967B-5D7656F59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67EFE7-0A59-4FFF-8DB3-61B71EA58975}" type="datetime1">
              <a:rPr lang="ja-JP" altLang="en-US" smtClean="0"/>
              <a:t>2018/2/2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68039091-764A-4EF0-A630-31394F715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ja-JP" altLang="en-US"/>
              <a:t>テストエース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7923D006-D9C5-4E64-A507-1F453788F6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2857539"/>
              </p:ext>
            </p:extLst>
          </p:nvPr>
        </p:nvGraphicFramePr>
        <p:xfrm>
          <a:off x="457200" y="1524000"/>
          <a:ext cx="8229601" cy="50531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93988">
                  <a:extLst>
                    <a:ext uri="{9D8B030D-6E8A-4147-A177-3AD203B41FA5}">
                      <a16:colId xmlns:a16="http://schemas.microsoft.com/office/drawing/2014/main" val="3511605320"/>
                    </a:ext>
                  </a:extLst>
                </a:gridCol>
                <a:gridCol w="3294289">
                  <a:extLst>
                    <a:ext uri="{9D8B030D-6E8A-4147-A177-3AD203B41FA5}">
                      <a16:colId xmlns:a16="http://schemas.microsoft.com/office/drawing/2014/main" val="3818294609"/>
                    </a:ext>
                  </a:extLst>
                </a:gridCol>
                <a:gridCol w="404134">
                  <a:extLst>
                    <a:ext uri="{9D8B030D-6E8A-4147-A177-3AD203B41FA5}">
                      <a16:colId xmlns:a16="http://schemas.microsoft.com/office/drawing/2014/main" val="3060624140"/>
                    </a:ext>
                  </a:extLst>
                </a:gridCol>
                <a:gridCol w="404134">
                  <a:extLst>
                    <a:ext uri="{9D8B030D-6E8A-4147-A177-3AD203B41FA5}">
                      <a16:colId xmlns:a16="http://schemas.microsoft.com/office/drawing/2014/main" val="214685886"/>
                    </a:ext>
                  </a:extLst>
                </a:gridCol>
                <a:gridCol w="808264">
                  <a:extLst>
                    <a:ext uri="{9D8B030D-6E8A-4147-A177-3AD203B41FA5}">
                      <a16:colId xmlns:a16="http://schemas.microsoft.com/office/drawing/2014/main" val="1127345636"/>
                    </a:ext>
                  </a:extLst>
                </a:gridCol>
                <a:gridCol w="808264">
                  <a:extLst>
                    <a:ext uri="{9D8B030D-6E8A-4147-A177-3AD203B41FA5}">
                      <a16:colId xmlns:a16="http://schemas.microsoft.com/office/drawing/2014/main" val="1331674583"/>
                    </a:ext>
                  </a:extLst>
                </a:gridCol>
                <a:gridCol w="808264">
                  <a:extLst>
                    <a:ext uri="{9D8B030D-6E8A-4147-A177-3AD203B41FA5}">
                      <a16:colId xmlns:a16="http://schemas.microsoft.com/office/drawing/2014/main" val="1923832570"/>
                    </a:ext>
                  </a:extLst>
                </a:gridCol>
                <a:gridCol w="808264">
                  <a:extLst>
                    <a:ext uri="{9D8B030D-6E8A-4147-A177-3AD203B41FA5}">
                      <a16:colId xmlns:a16="http://schemas.microsoft.com/office/drawing/2014/main" val="2975435775"/>
                    </a:ext>
                  </a:extLst>
                </a:gridCol>
              </a:tblGrid>
              <a:tr h="16764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u="none" strike="noStrike" dirty="0">
                          <a:solidFill>
                            <a:schemeClr val="bg1"/>
                          </a:solidFill>
                          <a:effectLst/>
                        </a:rPr>
                        <a:t>WBS</a:t>
                      </a:r>
                      <a:endParaRPr lang="en-US" sz="1200" b="0" i="0" u="none" strike="noStrike" dirty="0">
                        <a:solidFill>
                          <a:schemeClr val="bg1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ja-JP" altLang="en-US" sz="1200" b="0" u="none" strike="noStrike" dirty="0">
                          <a:solidFill>
                            <a:schemeClr val="bg1"/>
                          </a:solidFill>
                          <a:effectLst/>
                        </a:rPr>
                        <a:t>タスク</a:t>
                      </a:r>
                      <a:endParaRPr lang="ja-JP" altLang="en-US" sz="1200" b="0" i="0" u="none" strike="noStrike" dirty="0">
                        <a:solidFill>
                          <a:schemeClr val="bg1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ja-JP" altLang="en-US" sz="1200" b="0" u="none" strike="noStrike">
                          <a:solidFill>
                            <a:schemeClr val="bg1"/>
                          </a:solidFill>
                          <a:effectLst/>
                        </a:rPr>
                        <a:t>進捗</a:t>
                      </a:r>
                      <a:endParaRPr lang="ja-JP" altLang="en-US" sz="1200" b="0" i="0" u="none" strike="noStrike">
                        <a:solidFill>
                          <a:schemeClr val="bg1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ja-JP" altLang="en-US" sz="1200" b="0" u="none" strike="noStrike">
                          <a:solidFill>
                            <a:schemeClr val="bg1"/>
                          </a:solidFill>
                          <a:effectLst/>
                        </a:rPr>
                        <a:t>工数</a:t>
                      </a:r>
                      <a:endParaRPr lang="ja-JP" altLang="en-US" sz="1200" b="0" i="0" u="none" strike="noStrike">
                        <a:solidFill>
                          <a:schemeClr val="bg1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ja-JP" altLang="en-US" sz="1200" b="0" u="none" strike="noStrike">
                          <a:solidFill>
                            <a:schemeClr val="bg1"/>
                          </a:solidFill>
                          <a:effectLst/>
                        </a:rPr>
                        <a:t>予想開始日</a:t>
                      </a:r>
                      <a:endParaRPr lang="ja-JP" altLang="en-US" sz="1200" b="0" i="0" u="none" strike="noStrike">
                        <a:solidFill>
                          <a:schemeClr val="bg1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ja-JP" altLang="en-US" sz="1200" b="0" u="none" strike="noStrike">
                          <a:solidFill>
                            <a:schemeClr val="bg1"/>
                          </a:solidFill>
                          <a:effectLst/>
                        </a:rPr>
                        <a:t>予想終了日</a:t>
                      </a:r>
                      <a:endParaRPr lang="ja-JP" altLang="en-US" sz="1200" b="0" i="0" u="none" strike="noStrike">
                        <a:solidFill>
                          <a:schemeClr val="bg1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ja-JP" altLang="en-US" sz="1200" b="0" u="none" strike="noStrike">
                          <a:solidFill>
                            <a:schemeClr val="bg1"/>
                          </a:solidFill>
                          <a:effectLst/>
                        </a:rPr>
                        <a:t>実際開始日</a:t>
                      </a:r>
                      <a:endParaRPr lang="ja-JP" altLang="en-US" sz="1200" b="0" i="0" u="none" strike="noStrike">
                        <a:solidFill>
                          <a:schemeClr val="bg1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ja-JP" altLang="en-US" sz="1200" b="0" u="none" strike="noStrike" dirty="0">
                          <a:solidFill>
                            <a:schemeClr val="bg1"/>
                          </a:solidFill>
                          <a:effectLst/>
                        </a:rPr>
                        <a:t>実際終了日</a:t>
                      </a:r>
                      <a:endParaRPr lang="ja-JP" altLang="en-US" sz="1200" b="0" i="0" u="none" strike="noStrike" dirty="0">
                        <a:solidFill>
                          <a:schemeClr val="bg1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4159288"/>
                  </a:ext>
                </a:extLst>
              </a:tr>
              <a:tr h="167640"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ja-JP" sz="1000" u="none" strike="noStrike" dirty="0">
                          <a:effectLst/>
                        </a:rPr>
                        <a:t>1</a:t>
                      </a:r>
                      <a:endParaRPr lang="en-US" altLang="ja-JP" sz="1000" b="0" i="0" u="none" strike="noStrike" dirty="0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 dirty="0">
                          <a:effectLst/>
                        </a:rPr>
                        <a:t>Test Ace Installation 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100%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1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2018/1/10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2018/1/10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2018/1/10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2018/1/10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extLst>
                  <a:ext uri="{0D108BD9-81ED-4DB2-BD59-A6C34878D82A}">
                    <a16:rowId xmlns:a16="http://schemas.microsoft.com/office/drawing/2014/main" val="4271027526"/>
                  </a:ext>
                </a:extLst>
              </a:tr>
              <a:tr h="167640"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ja-JP" sz="1000" u="none" strike="noStrike" dirty="0">
                          <a:effectLst/>
                        </a:rPr>
                        <a:t>2</a:t>
                      </a:r>
                      <a:endParaRPr lang="en-US" altLang="ja-JP" sz="1000" b="0" i="0" u="none" strike="noStrike" dirty="0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 dirty="0">
                          <a:effectLst/>
                        </a:rPr>
                        <a:t>Test Ace Operation 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100%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1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2018/1/11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2018/1/11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2018/1/11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2018/1/11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extLst>
                  <a:ext uri="{0D108BD9-81ED-4DB2-BD59-A6C34878D82A}">
                    <a16:rowId xmlns:a16="http://schemas.microsoft.com/office/drawing/2014/main" val="124406681"/>
                  </a:ext>
                </a:extLst>
              </a:tr>
              <a:tr h="167640"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ja-JP" sz="1000" u="none" strike="noStrike" dirty="0">
                          <a:effectLst/>
                        </a:rPr>
                        <a:t>3</a:t>
                      </a:r>
                      <a:endParaRPr lang="en-US" altLang="ja-JP" sz="1000" b="0" i="0" u="none" strike="noStrike" dirty="0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 dirty="0">
                          <a:effectLst/>
                        </a:rPr>
                        <a:t>Setting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ja-JP" altLang="en-US" sz="1000" u="none" strike="noStrike">
                          <a:effectLst/>
                        </a:rPr>
                        <a:t>　</a:t>
                      </a:r>
                      <a:endParaRPr lang="ja-JP" altLang="en-US" sz="1000" b="0" i="0" u="none" strike="noStrike">
                        <a:solidFill>
                          <a:srgbClr val="FF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ja-JP" altLang="en-US" sz="1000" u="none" strike="noStrike">
                          <a:effectLst/>
                        </a:rPr>
                        <a:t>　</a:t>
                      </a:r>
                      <a:endParaRPr lang="ja-JP" altLang="en-US" sz="1000" b="0" i="0" u="none" strike="noStrike">
                        <a:solidFill>
                          <a:srgbClr val="FF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ja-JP" altLang="en-US" sz="1000" u="none" strike="noStrike">
                          <a:effectLst/>
                        </a:rPr>
                        <a:t>　</a:t>
                      </a:r>
                      <a:endParaRPr lang="ja-JP" altLang="en-US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ja-JP" altLang="en-US" sz="1000" u="none" strike="noStrike">
                          <a:effectLst/>
                        </a:rPr>
                        <a:t>　</a:t>
                      </a:r>
                      <a:endParaRPr lang="ja-JP" altLang="en-US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ja-JP" altLang="en-US" sz="1000" u="none" strike="noStrike">
                          <a:effectLst/>
                        </a:rPr>
                        <a:t>　</a:t>
                      </a:r>
                      <a:endParaRPr lang="ja-JP" altLang="en-US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ja-JP" altLang="en-US" sz="1000" u="none" strike="noStrike">
                          <a:effectLst/>
                        </a:rPr>
                        <a:t>　</a:t>
                      </a:r>
                      <a:endParaRPr lang="ja-JP" altLang="en-US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extLst>
                  <a:ext uri="{0D108BD9-81ED-4DB2-BD59-A6C34878D82A}">
                    <a16:rowId xmlns:a16="http://schemas.microsoft.com/office/drawing/2014/main" val="2051070262"/>
                  </a:ext>
                </a:extLst>
              </a:tr>
              <a:tr h="167640"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ja-JP" sz="1000" u="none" strike="noStrike">
                          <a:effectLst/>
                        </a:rPr>
                        <a:t>3.1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DB connection info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131097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100%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0.5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2018/1/12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2018/1/12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2018/1/12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2018/1/12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extLst>
                  <a:ext uri="{0D108BD9-81ED-4DB2-BD59-A6C34878D82A}">
                    <a16:rowId xmlns:a16="http://schemas.microsoft.com/office/drawing/2014/main" val="520482148"/>
                  </a:ext>
                </a:extLst>
              </a:tr>
              <a:tr h="167640"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ja-JP" sz="1000" u="none" strike="noStrike">
                          <a:effectLst/>
                        </a:rPr>
                        <a:t>3.2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File connection info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131097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100%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0.5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2018/1/12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2018/1/12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2018/1/12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 dirty="0">
                          <a:effectLst/>
                        </a:rPr>
                        <a:t>2018/1/12</a:t>
                      </a:r>
                      <a:endParaRPr lang="en-US" altLang="ja-JP" sz="1000" b="0" i="0" u="none" strike="noStrike" dirty="0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extLst>
                  <a:ext uri="{0D108BD9-81ED-4DB2-BD59-A6C34878D82A}">
                    <a16:rowId xmlns:a16="http://schemas.microsoft.com/office/drawing/2014/main" val="3744767531"/>
                  </a:ext>
                </a:extLst>
              </a:tr>
              <a:tr h="167640"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ja-JP" sz="1000" u="none" strike="noStrike" dirty="0">
                          <a:effectLst/>
                        </a:rPr>
                        <a:t>4</a:t>
                      </a:r>
                      <a:endParaRPr lang="en-US" altLang="ja-JP" sz="1000" b="0" i="0" u="none" strike="noStrike" dirty="0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 dirty="0">
                          <a:effectLst/>
                        </a:rPr>
                        <a:t>Data flow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ja-JP" altLang="en-US" sz="1000" u="none" strike="noStrike">
                          <a:effectLst/>
                        </a:rPr>
                        <a:t>　</a:t>
                      </a:r>
                      <a:endParaRPr lang="ja-JP" altLang="en-US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ja-JP" altLang="en-US" sz="1000" u="none" strike="noStrike">
                          <a:effectLst/>
                        </a:rPr>
                        <a:t>　</a:t>
                      </a:r>
                      <a:endParaRPr lang="ja-JP" altLang="en-US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ja-JP" altLang="en-US" sz="1000" u="none" strike="noStrike">
                          <a:effectLst/>
                        </a:rPr>
                        <a:t>　</a:t>
                      </a:r>
                      <a:endParaRPr lang="ja-JP" altLang="en-US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ja-JP" altLang="en-US" sz="1000" u="none" strike="noStrike">
                          <a:effectLst/>
                        </a:rPr>
                        <a:t>　</a:t>
                      </a:r>
                      <a:endParaRPr lang="ja-JP" altLang="en-US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ja-JP" altLang="en-US" sz="1000" u="none" strike="noStrike">
                          <a:effectLst/>
                        </a:rPr>
                        <a:t>　</a:t>
                      </a:r>
                      <a:endParaRPr lang="ja-JP" altLang="en-US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ja-JP" altLang="en-US" sz="1000" u="none" strike="noStrike">
                          <a:effectLst/>
                        </a:rPr>
                        <a:t>　</a:t>
                      </a:r>
                      <a:endParaRPr lang="ja-JP" altLang="en-US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extLst>
                  <a:ext uri="{0D108BD9-81ED-4DB2-BD59-A6C34878D82A}">
                    <a16:rowId xmlns:a16="http://schemas.microsoft.com/office/drawing/2014/main" val="1000634703"/>
                  </a:ext>
                </a:extLst>
              </a:tr>
              <a:tr h="167640"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 dirty="0">
                          <a:effectLst/>
                        </a:rPr>
                        <a:t>4.1</a:t>
                      </a:r>
                      <a:endParaRPr lang="en-US" altLang="ja-JP" sz="1000" b="0" i="0" u="none" strike="noStrike" dirty="0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DB to File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131097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100%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0.5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2018/1/15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2018/1/15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2018/1/15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2018/1/15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extLst>
                  <a:ext uri="{0D108BD9-81ED-4DB2-BD59-A6C34878D82A}">
                    <a16:rowId xmlns:a16="http://schemas.microsoft.com/office/drawing/2014/main" val="897897317"/>
                  </a:ext>
                </a:extLst>
              </a:tr>
              <a:tr h="167640"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4.2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DB to DB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131097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100%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0.5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2018/1/15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2018/1/15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2018/1/15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2018/1/15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extLst>
                  <a:ext uri="{0D108BD9-81ED-4DB2-BD59-A6C34878D82A}">
                    <a16:rowId xmlns:a16="http://schemas.microsoft.com/office/drawing/2014/main" val="485135021"/>
                  </a:ext>
                </a:extLst>
              </a:tr>
              <a:tr h="167640"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4.3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Load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131097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100%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0.5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2018/1/16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2018/1/16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2018/1/16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2018/1/16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extLst>
                  <a:ext uri="{0D108BD9-81ED-4DB2-BD59-A6C34878D82A}">
                    <a16:rowId xmlns:a16="http://schemas.microsoft.com/office/drawing/2014/main" val="2205036745"/>
                  </a:ext>
                </a:extLst>
              </a:tr>
              <a:tr h="167640"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4.4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File to File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131097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100%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0.5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2018/1/16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2018/1/16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2018/1/16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2018/1/16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extLst>
                  <a:ext uri="{0D108BD9-81ED-4DB2-BD59-A6C34878D82A}">
                    <a16:rowId xmlns:a16="http://schemas.microsoft.com/office/drawing/2014/main" val="2080334454"/>
                  </a:ext>
                </a:extLst>
              </a:tr>
              <a:tr h="167640"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4.5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Generate to File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131097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100%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0.5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2018/1/17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2018/1/17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2018/1/17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2018/1/17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extLst>
                  <a:ext uri="{0D108BD9-81ED-4DB2-BD59-A6C34878D82A}">
                    <a16:rowId xmlns:a16="http://schemas.microsoft.com/office/drawing/2014/main" val="3462502506"/>
                  </a:ext>
                </a:extLst>
              </a:tr>
              <a:tr h="167640"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4.6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Generate to DB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131097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100%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0.5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2018/1/17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2018/1/17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2018/1/17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2018/1/17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extLst>
                  <a:ext uri="{0D108BD9-81ED-4DB2-BD59-A6C34878D82A}">
                    <a16:rowId xmlns:a16="http://schemas.microsoft.com/office/drawing/2014/main" val="3921945050"/>
                  </a:ext>
                </a:extLst>
              </a:tr>
              <a:tr h="167640"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ja-JP" sz="1000" u="none" strike="noStrike" dirty="0">
                          <a:effectLst/>
                        </a:rPr>
                        <a:t>5</a:t>
                      </a:r>
                      <a:endParaRPr lang="en-US" altLang="ja-JP" sz="1000" b="0" i="0" u="none" strike="noStrike" dirty="0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 dirty="0">
                          <a:effectLst/>
                        </a:rPr>
                        <a:t>Conversions type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ja-JP" altLang="en-US" sz="1000" u="none" strike="noStrike">
                          <a:effectLst/>
                        </a:rPr>
                        <a:t>　</a:t>
                      </a:r>
                      <a:endParaRPr lang="ja-JP" altLang="en-US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ja-JP" altLang="en-US" sz="1000" u="none" strike="noStrike">
                          <a:effectLst/>
                        </a:rPr>
                        <a:t>　</a:t>
                      </a:r>
                      <a:endParaRPr lang="ja-JP" altLang="en-US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ja-JP" altLang="en-US" sz="1000" u="none" strike="noStrike">
                          <a:effectLst/>
                        </a:rPr>
                        <a:t>　</a:t>
                      </a:r>
                      <a:endParaRPr lang="ja-JP" altLang="en-US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ja-JP" altLang="en-US" sz="1000" u="none" strike="noStrike">
                          <a:effectLst/>
                        </a:rPr>
                        <a:t>　</a:t>
                      </a:r>
                      <a:endParaRPr lang="ja-JP" altLang="en-US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ja-JP" altLang="en-US" sz="1000" u="none" strike="noStrike">
                          <a:effectLst/>
                        </a:rPr>
                        <a:t>　</a:t>
                      </a:r>
                      <a:endParaRPr lang="ja-JP" altLang="en-US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ja-JP" altLang="en-US" sz="1000" u="none" strike="noStrike" dirty="0">
                          <a:effectLst/>
                        </a:rPr>
                        <a:t>　</a:t>
                      </a:r>
                      <a:endParaRPr lang="ja-JP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extLst>
                  <a:ext uri="{0D108BD9-81ED-4DB2-BD59-A6C34878D82A}">
                    <a16:rowId xmlns:a16="http://schemas.microsoft.com/office/drawing/2014/main" val="3085733436"/>
                  </a:ext>
                </a:extLst>
              </a:tr>
              <a:tr h="167640">
                <a:tc>
                  <a:txBody>
                    <a:bodyPr/>
                    <a:lstStyle/>
                    <a:p>
                      <a:pPr algn="r" fontAlgn="t"/>
                      <a:r>
                        <a:rPr lang="en-US" altLang="ja-JP" sz="1000" u="none" strike="noStrike" dirty="0">
                          <a:effectLst/>
                        </a:rPr>
                        <a:t>5.1</a:t>
                      </a:r>
                      <a:endParaRPr lang="en-US" altLang="ja-JP" sz="1000" b="0" i="0" u="none" strike="noStrike" dirty="0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 dirty="0">
                          <a:effectLst/>
                        </a:rPr>
                        <a:t>Unchanged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131097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100%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0.5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2018/1/18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2018/1/18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2018/1/18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2018/1/18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extLst>
                  <a:ext uri="{0D108BD9-81ED-4DB2-BD59-A6C34878D82A}">
                    <a16:rowId xmlns:a16="http://schemas.microsoft.com/office/drawing/2014/main" val="2710521927"/>
                  </a:ext>
                </a:extLst>
              </a:tr>
              <a:tr h="167640"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5.2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 dirty="0">
                          <a:effectLst/>
                        </a:rPr>
                        <a:t>Mask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131097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100%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0.5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2018/1/18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2018/1/18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2018/1/18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2018/1/18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extLst>
                  <a:ext uri="{0D108BD9-81ED-4DB2-BD59-A6C34878D82A}">
                    <a16:rowId xmlns:a16="http://schemas.microsoft.com/office/drawing/2014/main" val="4150082027"/>
                  </a:ext>
                </a:extLst>
              </a:tr>
              <a:tr h="167640">
                <a:tc>
                  <a:txBody>
                    <a:bodyPr/>
                    <a:lstStyle/>
                    <a:p>
                      <a:pPr algn="r" fontAlgn="t"/>
                      <a:r>
                        <a:rPr lang="en-US" altLang="ja-JP" sz="1000" u="none" strike="noStrike">
                          <a:effectLst/>
                        </a:rPr>
                        <a:t>5.3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 dirty="0">
                          <a:effectLst/>
                        </a:rPr>
                        <a:t>Random [DB to File, DB to DB]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131097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100%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0.5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2018/1/19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 dirty="0">
                          <a:effectLst/>
                        </a:rPr>
                        <a:t>2018/1/19</a:t>
                      </a:r>
                      <a:endParaRPr lang="en-US" altLang="ja-JP" sz="1000" b="0" i="0" u="none" strike="noStrike" dirty="0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2018/1/19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2018/1/19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extLst>
                  <a:ext uri="{0D108BD9-81ED-4DB2-BD59-A6C34878D82A}">
                    <a16:rowId xmlns:a16="http://schemas.microsoft.com/office/drawing/2014/main" val="1966862592"/>
                  </a:ext>
                </a:extLst>
              </a:tr>
              <a:tr h="167640"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5.4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Random [Generate to File, Generate to DB]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131097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100%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0.5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2018/1/19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2018/1/19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2018/1/19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2018/1/19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extLst>
                  <a:ext uri="{0D108BD9-81ED-4DB2-BD59-A6C34878D82A}">
                    <a16:rowId xmlns:a16="http://schemas.microsoft.com/office/drawing/2014/main" val="1824985906"/>
                  </a:ext>
                </a:extLst>
              </a:tr>
              <a:tr h="167640">
                <a:tc>
                  <a:txBody>
                    <a:bodyPr/>
                    <a:lstStyle/>
                    <a:p>
                      <a:pPr algn="r" fontAlgn="t"/>
                      <a:r>
                        <a:rPr lang="en-US" altLang="ja-JP" sz="1000" u="none" strike="noStrike">
                          <a:effectLst/>
                        </a:rPr>
                        <a:t>5.5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Gizidata [DB to File, DB to DB]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131097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 dirty="0">
                          <a:effectLst/>
                        </a:rPr>
                        <a:t>100%</a:t>
                      </a:r>
                      <a:endParaRPr lang="en-US" altLang="ja-JP" sz="1000" b="0" i="0" u="none" strike="noStrike" dirty="0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0.5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2018/1/22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2018/1/22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2018/1/22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 dirty="0">
                          <a:effectLst/>
                        </a:rPr>
                        <a:t>2018/1/22</a:t>
                      </a:r>
                      <a:endParaRPr lang="en-US" altLang="ja-JP" sz="1000" b="0" i="0" u="none" strike="noStrike" dirty="0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extLst>
                  <a:ext uri="{0D108BD9-81ED-4DB2-BD59-A6C34878D82A}">
                    <a16:rowId xmlns:a16="http://schemas.microsoft.com/office/drawing/2014/main" val="2882136012"/>
                  </a:ext>
                </a:extLst>
              </a:tr>
              <a:tr h="167640"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5.6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Gizidata [Generate to File, Generate to DB]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131097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100%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0.5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 dirty="0">
                          <a:effectLst/>
                        </a:rPr>
                        <a:t>2018/1/22</a:t>
                      </a:r>
                      <a:endParaRPr lang="en-US" altLang="ja-JP" sz="1000" b="0" i="0" u="none" strike="noStrike" dirty="0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2018/1/22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2018/1/22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2018/1/22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extLst>
                  <a:ext uri="{0D108BD9-81ED-4DB2-BD59-A6C34878D82A}">
                    <a16:rowId xmlns:a16="http://schemas.microsoft.com/office/drawing/2014/main" val="3334038240"/>
                  </a:ext>
                </a:extLst>
              </a:tr>
              <a:tr h="167640">
                <a:tc>
                  <a:txBody>
                    <a:bodyPr/>
                    <a:lstStyle/>
                    <a:p>
                      <a:pPr algn="r" fontAlgn="t"/>
                      <a:r>
                        <a:rPr lang="en-US" altLang="ja-JP" sz="1000" u="none" strike="noStrike">
                          <a:effectLst/>
                        </a:rPr>
                        <a:t>5.7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Use-defind function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131097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100%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0.5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2018/1/23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 dirty="0">
                          <a:effectLst/>
                        </a:rPr>
                        <a:t>2018/1/23</a:t>
                      </a:r>
                      <a:endParaRPr lang="en-US" altLang="ja-JP" sz="1000" b="0" i="0" u="none" strike="noStrike" dirty="0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2018/1/23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2018/1/23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extLst>
                  <a:ext uri="{0D108BD9-81ED-4DB2-BD59-A6C34878D82A}">
                    <a16:rowId xmlns:a16="http://schemas.microsoft.com/office/drawing/2014/main" val="2894297234"/>
                  </a:ext>
                </a:extLst>
              </a:tr>
              <a:tr h="167640"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5.8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Foreign key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131097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100%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0.5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2018/1/23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 dirty="0">
                          <a:effectLst/>
                        </a:rPr>
                        <a:t>2018/1/23</a:t>
                      </a:r>
                      <a:endParaRPr lang="en-US" altLang="ja-JP" sz="1000" b="0" i="0" u="none" strike="noStrike" dirty="0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2018/1/24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2018/1/24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extLst>
                  <a:ext uri="{0D108BD9-81ED-4DB2-BD59-A6C34878D82A}">
                    <a16:rowId xmlns:a16="http://schemas.microsoft.com/office/drawing/2014/main" val="778925553"/>
                  </a:ext>
                </a:extLst>
              </a:tr>
              <a:tr h="167640">
                <a:tc>
                  <a:txBody>
                    <a:bodyPr/>
                    <a:lstStyle/>
                    <a:p>
                      <a:pPr algn="r" fontAlgn="t"/>
                      <a:r>
                        <a:rPr lang="en-US" altLang="ja-JP" sz="1000" u="none" strike="noStrike">
                          <a:effectLst/>
                        </a:rPr>
                        <a:t>5.9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 dirty="0">
                          <a:effectLst/>
                        </a:rPr>
                        <a:t>Dependent column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131097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100%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0.5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2018/1/24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 dirty="0">
                          <a:effectLst/>
                        </a:rPr>
                        <a:t>2018/1/24</a:t>
                      </a:r>
                      <a:endParaRPr lang="en-US" altLang="ja-JP" sz="1000" b="0" i="0" u="none" strike="noStrike" dirty="0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 dirty="0">
                          <a:effectLst/>
                        </a:rPr>
                        <a:t>2018/1/24</a:t>
                      </a:r>
                      <a:endParaRPr lang="en-US" altLang="ja-JP" sz="1000" b="0" i="0" u="none" strike="noStrike" dirty="0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2018/1/24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extLst>
                  <a:ext uri="{0D108BD9-81ED-4DB2-BD59-A6C34878D82A}">
                    <a16:rowId xmlns:a16="http://schemas.microsoft.com/office/drawing/2014/main" val="1650173568"/>
                  </a:ext>
                </a:extLst>
              </a:tr>
              <a:tr h="167640"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5.10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000" u="none" strike="noStrike">
                          <a:effectLst/>
                        </a:rPr>
                        <a:t>Sequence number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131097" marR="8740" marT="874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100%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0.5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2018/1/24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2018/1/24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 dirty="0">
                          <a:effectLst/>
                        </a:rPr>
                        <a:t>2018/1/25</a:t>
                      </a:r>
                      <a:endParaRPr lang="en-US" altLang="ja-JP" sz="1000" b="0" i="0" u="none" strike="noStrike" dirty="0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2018/1/25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extLst>
                  <a:ext uri="{0D108BD9-81ED-4DB2-BD59-A6C34878D82A}">
                    <a16:rowId xmlns:a16="http://schemas.microsoft.com/office/drawing/2014/main" val="3871791635"/>
                  </a:ext>
                </a:extLst>
              </a:tr>
              <a:tr h="167640">
                <a:tc>
                  <a:txBody>
                    <a:bodyPr/>
                    <a:lstStyle/>
                    <a:p>
                      <a:pPr algn="r" fontAlgn="t"/>
                      <a:r>
                        <a:rPr lang="en-US" altLang="ja-JP" sz="1000" u="none" strike="noStrike">
                          <a:effectLst/>
                        </a:rPr>
                        <a:t>5.11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000" u="none" strike="noStrike">
                          <a:effectLst/>
                        </a:rPr>
                        <a:t>Fixed value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131097" marR="8740" marT="874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100%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0.5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2018/1/25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2018/1/25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 dirty="0">
                          <a:effectLst/>
                        </a:rPr>
                        <a:t>2018/1/25</a:t>
                      </a:r>
                      <a:endParaRPr lang="en-US" altLang="ja-JP" sz="1000" b="0" i="0" u="none" strike="noStrike" dirty="0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 dirty="0">
                          <a:effectLst/>
                        </a:rPr>
                        <a:t>2018/1/25</a:t>
                      </a:r>
                      <a:endParaRPr lang="en-US" altLang="ja-JP" sz="1000" b="0" i="0" u="none" strike="noStrike" dirty="0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extLst>
                  <a:ext uri="{0D108BD9-81ED-4DB2-BD59-A6C34878D82A}">
                    <a16:rowId xmlns:a16="http://schemas.microsoft.com/office/drawing/2014/main" val="2807754664"/>
                  </a:ext>
                </a:extLst>
              </a:tr>
              <a:tr h="167640">
                <a:tc>
                  <a:txBody>
                    <a:bodyPr/>
                    <a:lstStyle/>
                    <a:p>
                      <a:pPr algn="r" fontAlgn="t"/>
                      <a:r>
                        <a:rPr lang="en-US" altLang="ja-JP" sz="1000" u="none" strike="noStrike" dirty="0">
                          <a:effectLst/>
                        </a:rPr>
                        <a:t>6</a:t>
                      </a:r>
                      <a:endParaRPr lang="en-US" altLang="ja-JP" sz="1000" b="0" i="0" u="none" strike="noStrike" dirty="0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000" u="none" strike="noStrike" dirty="0" err="1">
                          <a:effectLst/>
                        </a:rPr>
                        <a:t>Gizidata</a:t>
                      </a:r>
                      <a:r>
                        <a:rPr lang="en-US" sz="1000" u="none" strike="noStrike" dirty="0">
                          <a:effectLst/>
                        </a:rPr>
                        <a:t> info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100%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1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2018/1/25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2018/1/26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2018/1/26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 dirty="0">
                          <a:effectLst/>
                        </a:rPr>
                        <a:t>2018/1/26</a:t>
                      </a:r>
                      <a:endParaRPr lang="en-US" altLang="ja-JP" sz="1000" b="0" i="0" u="none" strike="noStrike" dirty="0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extLst>
                  <a:ext uri="{0D108BD9-81ED-4DB2-BD59-A6C34878D82A}">
                    <a16:rowId xmlns:a16="http://schemas.microsoft.com/office/drawing/2014/main" val="2879716490"/>
                  </a:ext>
                </a:extLst>
              </a:tr>
              <a:tr h="167640">
                <a:tc>
                  <a:txBody>
                    <a:bodyPr/>
                    <a:lstStyle/>
                    <a:p>
                      <a:pPr algn="r" fontAlgn="t"/>
                      <a:r>
                        <a:rPr lang="en-US" altLang="ja-JP" sz="1000" u="none" strike="noStrike">
                          <a:effectLst/>
                        </a:rPr>
                        <a:t>7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000" u="none" strike="noStrike" dirty="0">
                          <a:effectLst/>
                        </a:rPr>
                        <a:t>User defined function info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100%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2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2018/1/26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2018/1/30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2018/1/29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2018/1/30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extLst>
                  <a:ext uri="{0D108BD9-81ED-4DB2-BD59-A6C34878D82A}">
                    <a16:rowId xmlns:a16="http://schemas.microsoft.com/office/drawing/2014/main" val="3485086471"/>
                  </a:ext>
                </a:extLst>
              </a:tr>
              <a:tr h="167640">
                <a:tc>
                  <a:txBody>
                    <a:bodyPr/>
                    <a:lstStyle/>
                    <a:p>
                      <a:pPr algn="r" fontAlgn="t"/>
                      <a:r>
                        <a:rPr lang="en-US" altLang="ja-JP" sz="1000" u="none" strike="noStrike">
                          <a:effectLst/>
                        </a:rPr>
                        <a:t>8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000" u="none" strike="noStrike" dirty="0">
                          <a:effectLst/>
                        </a:rPr>
                        <a:t>Test Ace Report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ja-JP" altLang="en-US" sz="1000" u="none" strike="noStrike">
                          <a:effectLst/>
                        </a:rPr>
                        <a:t>　</a:t>
                      </a:r>
                      <a:endParaRPr lang="ja-JP" altLang="en-US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ja-JP" altLang="en-US" sz="1000" u="none" strike="noStrike">
                          <a:effectLst/>
                        </a:rPr>
                        <a:t>　</a:t>
                      </a:r>
                      <a:endParaRPr lang="ja-JP" altLang="en-US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ja-JP" altLang="en-US" sz="1000" u="none" strike="noStrike">
                          <a:effectLst/>
                        </a:rPr>
                        <a:t>　</a:t>
                      </a:r>
                      <a:endParaRPr lang="ja-JP" altLang="en-US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ja-JP" altLang="en-US" sz="1000" u="none" strike="noStrike">
                          <a:effectLst/>
                        </a:rPr>
                        <a:t>　</a:t>
                      </a:r>
                      <a:endParaRPr lang="ja-JP" altLang="en-US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ja-JP" altLang="en-US" sz="1000" u="none" strike="noStrike">
                          <a:effectLst/>
                        </a:rPr>
                        <a:t>　</a:t>
                      </a:r>
                      <a:endParaRPr lang="ja-JP" altLang="en-US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ja-JP" altLang="en-US" sz="1000" u="none" strike="noStrike">
                          <a:effectLst/>
                        </a:rPr>
                        <a:t>　</a:t>
                      </a:r>
                      <a:endParaRPr lang="ja-JP" altLang="en-US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extLst>
                  <a:ext uri="{0D108BD9-81ED-4DB2-BD59-A6C34878D82A}">
                    <a16:rowId xmlns:a16="http://schemas.microsoft.com/office/drawing/2014/main" val="3158770832"/>
                  </a:ext>
                </a:extLst>
              </a:tr>
              <a:tr h="167640">
                <a:tc>
                  <a:txBody>
                    <a:bodyPr/>
                    <a:lstStyle/>
                    <a:p>
                      <a:pPr algn="r" fontAlgn="t"/>
                      <a:r>
                        <a:rPr lang="en-US" altLang="ja-JP" sz="1000" u="none" strike="noStrike">
                          <a:effectLst/>
                        </a:rPr>
                        <a:t>8.1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000" u="none" strike="noStrike" dirty="0" err="1">
                          <a:effectLst/>
                        </a:rPr>
                        <a:t>Reparing</a:t>
                      </a:r>
                      <a:r>
                        <a:rPr lang="en-US" sz="1000" u="none" strike="noStrike" dirty="0">
                          <a:effectLst/>
                        </a:rPr>
                        <a:t> report document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 dirty="0">
                          <a:effectLst/>
                        </a:rPr>
                        <a:t>100%</a:t>
                      </a:r>
                      <a:endParaRPr lang="en-US" altLang="ja-JP" sz="1000" b="0" i="0" u="none" strike="noStrike" dirty="0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 dirty="0">
                          <a:effectLst/>
                        </a:rPr>
                        <a:t>1</a:t>
                      </a:r>
                      <a:endParaRPr lang="en-US" altLang="ja-JP" sz="1000" b="0" i="0" u="none" strike="noStrike" dirty="0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 dirty="0">
                          <a:effectLst/>
                        </a:rPr>
                        <a:t>2018/1/30</a:t>
                      </a:r>
                      <a:endParaRPr lang="en-US" altLang="ja-JP" sz="1000" b="0" i="0" u="none" strike="noStrike" dirty="0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 dirty="0">
                          <a:effectLst/>
                        </a:rPr>
                        <a:t>2018/1/31</a:t>
                      </a:r>
                      <a:endParaRPr lang="en-US" altLang="ja-JP" sz="1000" b="0" i="0" u="none" strike="noStrike" dirty="0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ja-JP" altLang="en-US" sz="10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　    </a:t>
                      </a:r>
                      <a:r>
                        <a:rPr lang="en-US" altLang="ja-JP" sz="10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2018/1/31</a:t>
                      </a:r>
                      <a:endParaRPr lang="ja-JP" altLang="en-US" sz="1000" b="0" i="0" u="none" strike="noStrike" dirty="0">
                        <a:solidFill>
                          <a:srgbClr val="FF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ja-JP" altLang="en-US" sz="10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　      </a:t>
                      </a:r>
                      <a:r>
                        <a:rPr lang="en-US" altLang="ja-JP" sz="10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2018/2/1</a:t>
                      </a:r>
                      <a:endParaRPr lang="ja-JP" altLang="en-US" sz="1000" b="0" i="0" u="none" strike="noStrike" dirty="0">
                        <a:solidFill>
                          <a:srgbClr val="FF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extLst>
                  <a:ext uri="{0D108BD9-81ED-4DB2-BD59-A6C34878D82A}">
                    <a16:rowId xmlns:a16="http://schemas.microsoft.com/office/drawing/2014/main" val="1597191737"/>
                  </a:ext>
                </a:extLst>
              </a:tr>
              <a:tr h="167640"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ja-JP" sz="1000" u="none" strike="noStrike">
                          <a:effectLst/>
                        </a:rPr>
                        <a:t>8.2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 dirty="0">
                          <a:effectLst/>
                        </a:rPr>
                        <a:t>Reporting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 dirty="0">
                          <a:effectLst/>
                        </a:rPr>
                        <a:t>100%</a:t>
                      </a:r>
                      <a:endParaRPr lang="en-US" altLang="ja-JP" sz="1000" b="0" i="0" u="none" strike="noStrike" dirty="0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0.5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2018/1/31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ja-JP" sz="1000" u="none" strike="noStrike">
                          <a:effectLst/>
                        </a:rPr>
                        <a:t>2018/1/31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ja-JP" altLang="en-US" sz="1000" u="none" strike="noStrike" dirty="0">
                          <a:effectLst/>
                        </a:rPr>
                        <a:t>　      </a:t>
                      </a:r>
                      <a:r>
                        <a:rPr lang="en-US" altLang="ja-JP" sz="10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2018/2/2</a:t>
                      </a:r>
                      <a:endParaRPr lang="ja-JP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ja-JP" altLang="en-US" sz="1000" u="none" strike="noStrike" dirty="0">
                          <a:effectLst/>
                        </a:rPr>
                        <a:t>　      </a:t>
                      </a:r>
                      <a:r>
                        <a:rPr lang="en-US" altLang="ja-JP" sz="10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2018/2/2</a:t>
                      </a:r>
                      <a:endParaRPr lang="ja-JP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ＭＳ Ｐゴシック" panose="020B0600070205080204" pitchFamily="50" charset="-128"/>
                        <a:ea typeface="ＭＳ Ｐゴシック" panose="020B0600070205080204" pitchFamily="50" charset="-128"/>
                      </a:endParaRPr>
                    </a:p>
                  </a:txBody>
                  <a:tcPr marL="8740" marR="8740" marT="8740" marB="0" anchor="b"/>
                </a:tc>
                <a:extLst>
                  <a:ext uri="{0D108BD9-81ED-4DB2-BD59-A6C34878D82A}">
                    <a16:rowId xmlns:a16="http://schemas.microsoft.com/office/drawing/2014/main" val="3862637374"/>
                  </a:ext>
                </a:extLst>
              </a:tr>
            </a:tbl>
          </a:graphicData>
        </a:graphic>
      </p:graphicFrame>
      <p:pic>
        <p:nvPicPr>
          <p:cNvPr id="20" name="Picture 3">
            <a:extLst>
              <a:ext uri="{FF2B5EF4-FFF2-40B4-BE49-F238E27FC236}">
                <a16:creationId xmlns:a16="http://schemas.microsoft.com/office/drawing/2014/main" id="{A2B0E341-FF0C-47D1-B062-29DCB37716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39085" y="-1"/>
            <a:ext cx="1204915" cy="3810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6996327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ja-JP" sz="4000" dirty="0"/>
              <a:t>II.	Overview</a:t>
            </a:r>
            <a:endParaRPr kumimoji="1" lang="ja-JP" altLang="en-US" sz="4000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7EDF6290-B1FC-433C-B4FA-5AEF9407BD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76B277-947A-4AF0-A006-9ACC9EB83EB2}" type="datetime1">
              <a:rPr lang="ja-JP" altLang="en-US" smtClean="0"/>
              <a:t>2018/2/2</a:t>
            </a:fld>
            <a:endParaRPr lang="en-US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A27D0D20-6F75-48F0-95E5-187AD2B178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ja-JP" altLang="en-US" dirty="0"/>
              <a:t>テストエース</a:t>
            </a:r>
            <a:endParaRPr lang="en-US" dirty="0"/>
          </a:p>
        </p:txBody>
      </p:sp>
      <p:pic>
        <p:nvPicPr>
          <p:cNvPr id="17" name="Picture 3">
            <a:extLst>
              <a:ext uri="{FF2B5EF4-FFF2-40B4-BE49-F238E27FC236}">
                <a16:creationId xmlns:a16="http://schemas.microsoft.com/office/drawing/2014/main" id="{F4DC363F-C857-4BE1-B06E-7C3D50F231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39085" y="-1"/>
            <a:ext cx="1204915" cy="3810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8" name="Footer Placeholder 13">
            <a:extLst>
              <a:ext uri="{FF2B5EF4-FFF2-40B4-BE49-F238E27FC236}">
                <a16:creationId xmlns:a16="http://schemas.microsoft.com/office/drawing/2014/main" id="{6B1C597E-8F66-437D-89C5-247F4713D8D0}"/>
              </a:ext>
            </a:extLst>
          </p:cNvPr>
          <p:cNvSpPr txBox="1">
            <a:spLocks/>
          </p:cNvSpPr>
          <p:nvPr/>
        </p:nvSpPr>
        <p:spPr>
          <a:xfrm>
            <a:off x="457200" y="1524000"/>
            <a:ext cx="8229600" cy="4953000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ja-JP" altLang="en-US" b="1" dirty="0">
                <a:solidFill>
                  <a:srgbClr val="FF0000"/>
                </a:solidFill>
              </a:rPr>
              <a:t>テストエース</a:t>
            </a:r>
            <a:r>
              <a:rPr lang="en-US" altLang="ja-JP" dirty="0">
                <a:solidFill>
                  <a:schemeClr val="tx1"/>
                </a:solidFill>
              </a:rPr>
              <a:t>is a software used for create data in order to test product.</a:t>
            </a:r>
          </a:p>
          <a:p>
            <a:pPr algn="l"/>
            <a:r>
              <a:rPr lang="en-US" altLang="ja-JP" dirty="0">
                <a:solidFill>
                  <a:schemeClr val="tx1"/>
                </a:solidFill>
              </a:rPr>
              <a:t>It create data base on data of database or file (CSV, Excel) or auto create.</a:t>
            </a:r>
          </a:p>
          <a:p>
            <a:pPr algn="l"/>
            <a:r>
              <a:rPr lang="en-US" altLang="ja-JP" dirty="0">
                <a:solidFill>
                  <a:schemeClr val="tx1"/>
                </a:solidFill>
              </a:rPr>
              <a:t>Data is created converted that is similar real data.</a:t>
            </a:r>
          </a:p>
          <a:p>
            <a:pPr algn="l"/>
            <a:r>
              <a:rPr lang="en-US" dirty="0">
                <a:solidFill>
                  <a:schemeClr val="tx1"/>
                </a:solidFill>
              </a:rPr>
              <a:t>User can custom data creation by rules.</a:t>
            </a:r>
          </a:p>
          <a:p>
            <a:pPr algn="l"/>
            <a:r>
              <a:rPr lang="en-US" dirty="0">
                <a:solidFill>
                  <a:schemeClr val="tx1"/>
                </a:solidFill>
              </a:rPr>
              <a:t>Creating and converted data is sure for real data information.</a:t>
            </a:r>
          </a:p>
          <a:p>
            <a:pPr algn="l"/>
            <a:r>
              <a:rPr lang="en-US" dirty="0">
                <a:solidFill>
                  <a:schemeClr val="tx1"/>
                </a:solidFill>
              </a:rPr>
              <a:t>Output </a:t>
            </a:r>
            <a:r>
              <a:rPr lang="en-US" dirty="0" err="1">
                <a:solidFill>
                  <a:schemeClr val="tx1"/>
                </a:solidFill>
              </a:rPr>
              <a:t>createing</a:t>
            </a:r>
            <a:r>
              <a:rPr lang="en-US" dirty="0">
                <a:solidFill>
                  <a:schemeClr val="tx1"/>
                </a:solidFill>
              </a:rPr>
              <a:t> or converted data</a:t>
            </a:r>
            <a:r>
              <a:rPr lang="en-US" altLang="ja-JP" dirty="0">
                <a:solidFill>
                  <a:schemeClr val="tx1"/>
                </a:solidFill>
              </a:rPr>
              <a:t> to database or file (CSV, EXCEL).</a:t>
            </a:r>
          </a:p>
          <a:p>
            <a:pPr algn="l"/>
            <a:r>
              <a:rPr lang="en-US" altLang="ja-JP" dirty="0">
                <a:solidFill>
                  <a:schemeClr val="tx1"/>
                </a:solidFill>
              </a:rPr>
              <a:t>Support 3 database: Oracle, </a:t>
            </a:r>
            <a:r>
              <a:rPr lang="en-US" altLang="ja-JP" dirty="0" err="1">
                <a:solidFill>
                  <a:schemeClr val="tx1"/>
                </a:solidFill>
              </a:rPr>
              <a:t>MSSQLServer</a:t>
            </a:r>
            <a:r>
              <a:rPr lang="en-US" altLang="ja-JP" dirty="0">
                <a:solidFill>
                  <a:schemeClr val="tx1"/>
                </a:solidFill>
              </a:rPr>
              <a:t>, PostgreSQL.</a:t>
            </a:r>
          </a:p>
          <a:p>
            <a:pPr algn="l"/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EA1F35E0-A833-4CC8-B9D9-86BA9ACB16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048000"/>
            <a:ext cx="8229600" cy="3621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48785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804C01-22D5-4661-BDC3-D367EC6A15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III.	</a:t>
            </a:r>
            <a:r>
              <a:rPr lang="en-US" altLang="ja-JP" dirty="0">
                <a:latin typeface="Times New Roman" panose="02020603050405020304" pitchFamily="18" charset="0"/>
                <a:ea typeface="Segoe UI" panose="020B0502040204020203" pitchFamily="34" charset="0"/>
                <a:cs typeface="Times New Roman" panose="02020603050405020304" pitchFamily="18" charset="0"/>
              </a:rPr>
              <a:t>Setting</a:t>
            </a:r>
            <a:endParaRPr kumimoji="1" lang="ja-JP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1A4F8B-C905-4D22-A029-4E301203C9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ja-JP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Configuration info before creating data:</a:t>
            </a:r>
          </a:p>
          <a:p>
            <a:pPr marL="457200" indent="-457200">
              <a:buFont typeface="+mj-lt"/>
              <a:buAutoNum type="arabicPeriod"/>
            </a:pPr>
            <a:r>
              <a:rPr lang="en-US" altLang="ja-JP" dirty="0"/>
              <a:t>Database connection</a:t>
            </a:r>
          </a:p>
          <a:p>
            <a:pPr marL="457200" indent="-457200">
              <a:buFont typeface="+mj-lt"/>
              <a:buAutoNum type="arabicPeriod"/>
            </a:pPr>
            <a:r>
              <a:rPr lang="en-US" altLang="ja-JP" dirty="0"/>
              <a:t>File connection</a:t>
            </a:r>
          </a:p>
          <a:p>
            <a:pPr marL="457200" indent="-457200">
              <a:buFont typeface="+mj-lt"/>
              <a:buAutoNum type="arabicPeriod"/>
            </a:pPr>
            <a:r>
              <a:rPr lang="en-US" altLang="ja-JP" dirty="0" err="1"/>
              <a:t>Gizidata</a:t>
            </a:r>
            <a:endParaRPr lang="en-US" altLang="ja-JP" dirty="0"/>
          </a:p>
          <a:p>
            <a:pPr marL="457200" indent="-457200">
              <a:buFont typeface="+mj-lt"/>
              <a:buAutoNum type="arabicPeriod"/>
            </a:pPr>
            <a:r>
              <a:rPr lang="en-US" altLang="ja-JP" dirty="0"/>
              <a:t>User Function</a:t>
            </a:r>
            <a:endParaRPr kumimoji="1" lang="ja-JP" alt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7098A-9F00-4035-95E3-4029049B99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D8C9F0-02EB-4A41-A3D8-A4B8388840CD}" type="datetime1">
              <a:rPr lang="ja-JP" altLang="en-US" smtClean="0"/>
              <a:t>2018/2/2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2FE2FD-653A-4882-84B5-A4B4199899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ja-JP" altLang="en-US"/>
              <a:t>テストエース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1D51E8-C29D-432E-9C6C-C5B3D3706C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504444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01303-7B46-488C-909F-C0AAD82ACF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III.	</a:t>
            </a:r>
            <a:r>
              <a:rPr lang="en-US" altLang="ja-JP" dirty="0">
                <a:latin typeface="Times New Roman" panose="02020603050405020304" pitchFamily="18" charset="0"/>
                <a:ea typeface="Segoe UI" panose="020B0502040204020203" pitchFamily="34" charset="0"/>
                <a:cs typeface="Times New Roman" panose="02020603050405020304" pitchFamily="18" charset="0"/>
              </a:rPr>
              <a:t>Setting (Next)</a:t>
            </a:r>
            <a:endParaRPr kumimoji="1" lang="ja-JP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181622-29A8-42BD-92C5-6E3D21A003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ja-JP" sz="16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1.  Database connection.</a:t>
            </a:r>
          </a:p>
          <a:p>
            <a:pPr lvl="1"/>
            <a:r>
              <a:rPr lang="en-US" altLang="ja-JP" sz="1200" dirty="0"/>
              <a:t>Allow set info to connect to database.</a:t>
            </a:r>
          </a:p>
          <a:p>
            <a:pPr lvl="1"/>
            <a:r>
              <a:rPr lang="en-US" altLang="ja-JP" sz="1200" dirty="0"/>
              <a:t>While </a:t>
            </a:r>
            <a:r>
              <a:rPr lang="en-US" altLang="ja-JP" sz="1200" dirty="0" err="1"/>
              <a:t>TestAce</a:t>
            </a:r>
            <a:r>
              <a:rPr lang="en-US" altLang="ja-JP" sz="1200" dirty="0"/>
              <a:t> is creating data, database’s info can be input or output.</a:t>
            </a:r>
          </a:p>
          <a:p>
            <a:pPr lvl="1"/>
            <a:endParaRPr lang="en-US" altLang="ja-JP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C71A5F-D2CE-47D1-9310-A91D086EE1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D8C9F0-02EB-4A41-A3D8-A4B8388840CD}" type="datetime1">
              <a:rPr lang="ja-JP" altLang="en-US" smtClean="0"/>
              <a:t>2018/2/2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762279-D553-495E-8561-6AC9375599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ja-JP" altLang="en-US"/>
              <a:t>テストエース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600D48-AE84-49D9-B5D2-4C47EAF39F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6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5C82F86-D311-4396-B89F-C4D8282CF8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286" y="2438400"/>
            <a:ext cx="6885714" cy="43142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32895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9F8E38-8B80-4D9E-B393-9A2D69792C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III.	</a:t>
            </a:r>
            <a:r>
              <a:rPr lang="en-US" altLang="ja-JP" dirty="0">
                <a:latin typeface="Times New Roman" panose="02020603050405020304" pitchFamily="18" charset="0"/>
                <a:ea typeface="Segoe UI" panose="020B0502040204020203" pitchFamily="34" charset="0"/>
                <a:cs typeface="Times New Roman" panose="02020603050405020304" pitchFamily="18" charset="0"/>
              </a:rPr>
              <a:t>Setting (Next)</a:t>
            </a:r>
            <a:endParaRPr kumimoji="1" lang="ja-JP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A46239-105C-497F-B021-A56D0B72A3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ja-JP" sz="16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2.  File connection.</a:t>
            </a:r>
          </a:p>
          <a:p>
            <a:pPr lvl="1"/>
            <a:r>
              <a:rPr lang="en-US" altLang="ja-JP" sz="1200" dirty="0"/>
              <a:t>Setting output information.</a:t>
            </a:r>
          </a:p>
          <a:p>
            <a:pPr lvl="1"/>
            <a:r>
              <a:rPr kumimoji="1" lang="en-US" altLang="ja-JP" sz="1200" dirty="0"/>
              <a:t>Output data to setting directory.</a:t>
            </a:r>
            <a:endParaRPr kumimoji="1" lang="ja-JP" alt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69B402-601C-42A5-81B5-B172E0CAD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D8C9F0-02EB-4A41-A3D8-A4B8388840CD}" type="datetime1">
              <a:rPr lang="ja-JP" altLang="en-US" smtClean="0"/>
              <a:t>2018/2/2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5E448D-83B8-4BE2-BC4F-5782C9B5D7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ja-JP" altLang="en-US"/>
              <a:t>テストエース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D7AE4A-5575-4D64-A14F-8963EF3E37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7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FA33B44-AF84-4922-B14C-E298158C5A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381" y="2438400"/>
            <a:ext cx="6895238" cy="4247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4835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3D00AC-F80C-4E55-9678-FEA5D6500D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III.	</a:t>
            </a:r>
            <a:r>
              <a:rPr lang="en-US" altLang="ja-JP" dirty="0">
                <a:latin typeface="Times New Roman" panose="02020603050405020304" pitchFamily="18" charset="0"/>
                <a:ea typeface="Segoe UI" panose="020B0502040204020203" pitchFamily="34" charset="0"/>
                <a:cs typeface="Times New Roman" panose="02020603050405020304" pitchFamily="18" charset="0"/>
              </a:rPr>
              <a:t>Setting (Next)</a:t>
            </a:r>
            <a:endParaRPr kumimoji="1" lang="ja-JP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5FD2A7-7A89-4AC1-B6BD-A820D140EE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ja-JP" sz="16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3.  </a:t>
            </a:r>
            <a:r>
              <a:rPr lang="en-US" altLang="ja-JP" sz="1600" dirty="0" err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Gizidata</a:t>
            </a:r>
            <a:r>
              <a:rPr lang="en-US" altLang="ja-JP" sz="16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.</a:t>
            </a:r>
          </a:p>
          <a:p>
            <a:pPr lvl="1"/>
            <a:r>
              <a:rPr lang="en-US" altLang="ja-JP" sz="1200" dirty="0"/>
              <a:t>It is a pattern data in order to prepare to create new data.</a:t>
            </a:r>
          </a:p>
          <a:p>
            <a:pPr lvl="1"/>
            <a:r>
              <a:rPr lang="en-US" altLang="ja-JP" sz="1200" dirty="0"/>
              <a:t>Created data base on this </a:t>
            </a:r>
            <a:r>
              <a:rPr lang="en-US" altLang="ja-JP" sz="1200" dirty="0" err="1"/>
              <a:t>gizidata</a:t>
            </a:r>
            <a:r>
              <a:rPr lang="en-US" altLang="ja-JP" sz="1200" dirty="0"/>
              <a:t>.</a:t>
            </a:r>
            <a:endParaRPr lang="ja-JP" alt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85FA9A-7D31-4CD9-BAC4-1F9BB8EC97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D8C9F0-02EB-4A41-A3D8-A4B8388840CD}" type="datetime1">
              <a:rPr lang="ja-JP" altLang="en-US" smtClean="0"/>
              <a:t>2018/2/2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FD6865-2071-4C82-A013-44AE9E1C87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ja-JP" altLang="en-US"/>
              <a:t>テストエース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2AB9D0-DFAE-4EE6-AFCD-911641C3B8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8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B155E3B-49BC-4F0F-8C83-8707A77FB6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0095" y="2438400"/>
            <a:ext cx="6923809" cy="4257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7413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665C62-FA27-4190-AC1E-A027705AB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III.	</a:t>
            </a:r>
            <a:r>
              <a:rPr lang="en-US" altLang="ja-JP" dirty="0">
                <a:latin typeface="Times New Roman" panose="02020603050405020304" pitchFamily="18" charset="0"/>
                <a:ea typeface="Segoe UI" panose="020B0502040204020203" pitchFamily="34" charset="0"/>
                <a:cs typeface="Times New Roman" panose="02020603050405020304" pitchFamily="18" charset="0"/>
              </a:rPr>
              <a:t>Setting (Next)</a:t>
            </a:r>
            <a:endParaRPr kumimoji="1" lang="ja-JP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E621CC-F12E-4BFB-89E4-49E15A4BF4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ja-JP" sz="16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3.  User Function.</a:t>
            </a:r>
          </a:p>
          <a:p>
            <a:pPr lvl="1"/>
            <a:r>
              <a:rPr lang="en-US" altLang="ja-JP" sz="1200" dirty="0"/>
              <a:t>Users will define some function which is way creating data.</a:t>
            </a:r>
          </a:p>
          <a:p>
            <a:pPr lvl="1"/>
            <a:r>
              <a:rPr lang="en-US" altLang="ja-JP" sz="1200" dirty="0"/>
              <a:t>This setting allow connect functions which users defined.</a:t>
            </a:r>
            <a:endParaRPr lang="ja-JP" altLang="en-US" dirty="0"/>
          </a:p>
          <a:p>
            <a:endParaRPr kumimoji="1" lang="ja-JP" alt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547C77-2031-4541-9383-515E7A0F5D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D8C9F0-02EB-4A41-A3D8-A4B8388840CD}" type="datetime1">
              <a:rPr lang="ja-JP" altLang="en-US" smtClean="0"/>
              <a:t>2018/2/2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C59579-A9ED-43C3-9EE2-98B6441BCF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ja-JP" altLang="en-US"/>
              <a:t>テストエース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2F29AC-5B03-45B6-8387-F548C22C3C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9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8EBEDB6-8B4A-4ECE-8F8C-B74201C86D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7238" y="2438400"/>
            <a:ext cx="6809524" cy="424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9664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2AF5EDB-3F37-4CAF-B426-76944B31B2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665D9F-7D4F-458C-B5F1-5DC5680E5F2F}" type="datetime1">
              <a:rPr lang="ja-JP" altLang="en-US" smtClean="0"/>
              <a:t>2018/2/2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625624DA-FB9C-49D6-8708-F83427E78F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ja-JP" altLang="en-US"/>
              <a:t>テストエース</a:t>
            </a:r>
            <a:endParaRPr lang="en-US" dirty="0"/>
          </a:p>
        </p:txBody>
      </p:sp>
      <p:pic>
        <p:nvPicPr>
          <p:cNvPr id="11" name="Picture 3">
            <a:extLst>
              <a:ext uri="{FF2B5EF4-FFF2-40B4-BE49-F238E27FC236}">
                <a16:creationId xmlns:a16="http://schemas.microsoft.com/office/drawing/2014/main" id="{BF3260D8-E433-4A2B-91D9-8AEAAD06FC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39085" y="-1"/>
            <a:ext cx="1204915" cy="3810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" name="Title 1">
            <a:extLst>
              <a:ext uri="{FF2B5EF4-FFF2-40B4-BE49-F238E27FC236}">
                <a16:creationId xmlns:a16="http://schemas.microsoft.com/office/drawing/2014/main" id="{D2625BC4-ED1C-460A-9CB9-8E87F1115592}"/>
              </a:ext>
            </a:extLst>
          </p:cNvPr>
          <p:cNvSpPr txBox="1">
            <a:spLocks/>
          </p:cNvSpPr>
          <p:nvPr/>
        </p:nvSpPr>
        <p:spPr>
          <a:xfrm>
            <a:off x="457200" y="533400"/>
            <a:ext cx="8229600" cy="990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kumimoji="1" sz="4000" kern="1200" spc="-1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dirty="0"/>
              <a:t>IV.	Data Flow</a:t>
            </a:r>
            <a:endParaRPr lang="ja-JP" altLang="en-US" dirty="0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6DEF9C0E-F211-4463-9129-00FC29DDD1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876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ja-JP" sz="16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Data Flow List</a:t>
            </a:r>
            <a:r>
              <a:rPr lang="ja-JP" altLang="en-US" sz="16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：</a:t>
            </a:r>
            <a:endParaRPr lang="en-US" altLang="ja-JP" sz="1600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altLang="ja-JP" sz="1600" dirty="0"/>
              <a:t>DB</a:t>
            </a:r>
            <a:r>
              <a:rPr lang="ja-JP" altLang="en-US" sz="1600" dirty="0"/>
              <a:t>－＞変換－＞ファイル</a:t>
            </a:r>
            <a:endParaRPr lang="en-US" altLang="ja-JP" sz="1600" dirty="0"/>
          </a:p>
          <a:p>
            <a:pPr marL="342900" indent="-342900">
              <a:buFont typeface="+mj-lt"/>
              <a:buAutoNum type="arabicPeriod"/>
            </a:pPr>
            <a:r>
              <a:rPr lang="en-US" altLang="zh-TW" sz="1600" dirty="0"/>
              <a:t>DB</a:t>
            </a:r>
            <a:r>
              <a:rPr lang="zh-TW" altLang="en-US" sz="1600" dirty="0"/>
              <a:t>－＞変換－＞</a:t>
            </a:r>
            <a:r>
              <a:rPr lang="en-US" altLang="zh-TW" sz="1600" dirty="0"/>
              <a:t>DB</a:t>
            </a:r>
          </a:p>
          <a:p>
            <a:pPr marL="342900" indent="-342900">
              <a:buFont typeface="+mj-lt"/>
              <a:buAutoNum type="arabicPeriod"/>
            </a:pPr>
            <a:r>
              <a:rPr lang="ja-JP" altLang="en-US" sz="1600" dirty="0"/>
              <a:t>ロード</a:t>
            </a:r>
            <a:endParaRPr lang="en-US" altLang="ja-JP" sz="1600" dirty="0"/>
          </a:p>
          <a:p>
            <a:pPr marL="342900" indent="-342900">
              <a:buFont typeface="+mj-lt"/>
              <a:buAutoNum type="arabicPeriod"/>
            </a:pPr>
            <a:r>
              <a:rPr lang="ja-JP" altLang="en-US" sz="1600" dirty="0"/>
              <a:t>ファイル－＞変換－＞ファイル</a:t>
            </a:r>
            <a:endParaRPr lang="en-US" altLang="ja-JP" sz="1600" dirty="0"/>
          </a:p>
          <a:p>
            <a:pPr marL="342900" indent="-342900">
              <a:buFont typeface="+mj-lt"/>
              <a:buAutoNum type="arabicPeriod"/>
            </a:pPr>
            <a:r>
              <a:rPr lang="ja-JP" altLang="en-US" sz="1600" dirty="0"/>
              <a:t>生成－＞ファイル</a:t>
            </a:r>
            <a:endParaRPr lang="en-US" altLang="ja-JP" sz="1600" dirty="0"/>
          </a:p>
          <a:p>
            <a:pPr marL="342900" indent="-342900">
              <a:buFont typeface="+mj-lt"/>
              <a:buAutoNum type="arabicPeriod"/>
            </a:pPr>
            <a:r>
              <a:rPr lang="ja-JP" altLang="en-US" sz="1600" dirty="0"/>
              <a:t>生成－＞</a:t>
            </a:r>
            <a:r>
              <a:rPr lang="en-US" altLang="ja-JP" sz="1600" dirty="0"/>
              <a:t>DB</a:t>
            </a:r>
          </a:p>
        </p:txBody>
      </p:sp>
    </p:spTree>
    <p:extLst>
      <p:ext uri="{BB962C8B-B14F-4D97-AF65-F5344CB8AC3E}">
        <p14:creationId xmlns:p14="http://schemas.microsoft.com/office/powerpoint/2010/main" val="33173073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347472"/>
            <a:ext cx="8305800" cy="1252728"/>
          </a:xfrm>
        </p:spPr>
        <p:txBody>
          <a:bodyPr>
            <a:noAutofit/>
          </a:bodyPr>
          <a:lstStyle/>
          <a:p>
            <a:r>
              <a:rPr lang="en-US" altLang="ja-JP" sz="3200" dirty="0"/>
              <a:t>VI.	Data Flow (Next)</a:t>
            </a:r>
            <a:endParaRPr kumimoji="1" lang="ja-JP" altLang="en-US" sz="18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9C2C8988-BB52-494D-B0BE-1F6BB71CA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846E8-9769-4958-AFDC-4BD304FB326F}" type="datetime1">
              <a:rPr lang="ja-JP" altLang="en-US" smtClean="0"/>
              <a:t>2018/2/2</a:t>
            </a:fld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26F6528E-0B4D-471D-9162-8964593473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ja-JP" altLang="en-US" dirty="0"/>
              <a:t>テストエース</a:t>
            </a:r>
            <a:endParaRPr lang="en-US" dirty="0"/>
          </a:p>
        </p:txBody>
      </p:sp>
      <p:pic>
        <p:nvPicPr>
          <p:cNvPr id="18" name="Picture 3">
            <a:extLst>
              <a:ext uri="{FF2B5EF4-FFF2-40B4-BE49-F238E27FC236}">
                <a16:creationId xmlns:a16="http://schemas.microsoft.com/office/drawing/2014/main" id="{3392BB94-1248-4EA9-9C07-25C3C5B421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39085" y="-1"/>
            <a:ext cx="1204915" cy="3810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8AECE87C-C3EB-4231-9297-FE25090A94C2}"/>
              </a:ext>
            </a:extLst>
          </p:cNvPr>
          <p:cNvSpPr txBox="1"/>
          <p:nvPr/>
        </p:nvSpPr>
        <p:spPr>
          <a:xfrm>
            <a:off x="457200" y="1600200"/>
            <a:ext cx="8229600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6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1.  DB</a:t>
            </a:r>
            <a:r>
              <a:rPr kumimoji="1" lang="ja-JP" altLang="en-US" sz="16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－＞変換－＞ファイル</a:t>
            </a:r>
            <a:endParaRPr kumimoji="1" lang="en-US" altLang="ja-JP" sz="16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kumimoji="1" lang="en-US" altLang="ja-JP" sz="1600" dirty="0"/>
              <a:t>Created data base on data of database.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kumimoji="1" lang="en-US" altLang="ja-JP" sz="1600" dirty="0"/>
              <a:t>Output data to file (CSV, EXCEL).</a:t>
            </a:r>
            <a:endParaRPr kumimoji="1" lang="en-US" altLang="ja-JP" sz="16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9D10A3D1-BE06-405A-B156-3BBB3245CD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62200" y="2438400"/>
            <a:ext cx="4733333" cy="1438095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7A781E5F-116D-4833-99BB-0F363335E2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4429" y="3928040"/>
            <a:ext cx="3505946" cy="247276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E7D0015C-CE24-43EF-BF7C-A3702838C53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58229" y="3971885"/>
            <a:ext cx="3228571" cy="2247619"/>
          </a:xfrm>
          <a:prstGeom prst="rect">
            <a:avLst/>
          </a:prstGeom>
        </p:spPr>
      </p:pic>
      <p:sp>
        <p:nvSpPr>
          <p:cNvPr id="27" name="Arrow: Right 26">
            <a:extLst>
              <a:ext uri="{FF2B5EF4-FFF2-40B4-BE49-F238E27FC236}">
                <a16:creationId xmlns:a16="http://schemas.microsoft.com/office/drawing/2014/main" id="{42EBA65E-A7AE-463B-B16B-99ACC1C66F92}"/>
              </a:ext>
            </a:extLst>
          </p:cNvPr>
          <p:cNvSpPr/>
          <p:nvPr/>
        </p:nvSpPr>
        <p:spPr>
          <a:xfrm>
            <a:off x="3429000" y="4800600"/>
            <a:ext cx="2029229" cy="12954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Setting </a:t>
            </a:r>
            <a:r>
              <a:rPr kumimoji="1" lang="en-US" altLang="ja-JP" dirty="0" err="1"/>
              <a:t>unchange</a:t>
            </a:r>
            <a:endParaRPr kumimoji="1" lang="ja-JP" altLang="en-US" dirty="0"/>
          </a:p>
        </p:txBody>
      </p:sp>
      <p:sp>
        <p:nvSpPr>
          <p:cNvPr id="29" name="Slide Number Placeholder 2">
            <a:extLst>
              <a:ext uri="{FF2B5EF4-FFF2-40B4-BE49-F238E27FC236}">
                <a16:creationId xmlns:a16="http://schemas.microsoft.com/office/drawing/2014/main" id="{41AA4B73-5EFF-41FF-9281-E4CB48846970}"/>
              </a:ext>
            </a:extLst>
          </p:cNvPr>
          <p:cNvSpPr txBox="1">
            <a:spLocks/>
          </p:cNvSpPr>
          <p:nvPr/>
        </p:nvSpPr>
        <p:spPr>
          <a:xfrm>
            <a:off x="6872285" y="6170877"/>
            <a:ext cx="1066800" cy="3291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400" b="1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6F15528-21DE-4FAA-801E-634DDDAF4B2B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71D225A-CD0D-4740-B78D-2567D2E2BE58}"/>
              </a:ext>
            </a:extLst>
          </p:cNvPr>
          <p:cNvSpPr txBox="1"/>
          <p:nvPr/>
        </p:nvSpPr>
        <p:spPr>
          <a:xfrm>
            <a:off x="533400" y="6260068"/>
            <a:ext cx="2667000" cy="369332"/>
          </a:xfrm>
          <a:prstGeom prst="rect">
            <a:avLst/>
          </a:prstGeom>
          <a:solidFill>
            <a:srgbClr val="92D050"/>
          </a:solidFill>
        </p:spPr>
        <p:txBody>
          <a:bodyPr wrap="square" rtlCol="0">
            <a:spAutoFit/>
          </a:bodyPr>
          <a:lstStyle/>
          <a:p>
            <a:r>
              <a:rPr kumimoji="1" lang="en-US" altLang="ja-JP" dirty="0">
                <a:solidFill>
                  <a:srgbClr val="FF0000"/>
                </a:solidFill>
              </a:rPr>
              <a:t>Data input [database]</a:t>
            </a:r>
            <a:endParaRPr kumimoji="1" lang="ja-JP" altLang="en-US" dirty="0">
              <a:solidFill>
                <a:srgbClr val="FF0000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9152D23-C7BC-4C84-B393-630240B52288}"/>
              </a:ext>
            </a:extLst>
          </p:cNvPr>
          <p:cNvSpPr txBox="1"/>
          <p:nvPr/>
        </p:nvSpPr>
        <p:spPr>
          <a:xfrm>
            <a:off x="5715000" y="6219504"/>
            <a:ext cx="2955175" cy="369332"/>
          </a:xfrm>
          <a:prstGeom prst="rect">
            <a:avLst/>
          </a:prstGeom>
          <a:solidFill>
            <a:srgbClr val="92D050"/>
          </a:solidFill>
        </p:spPr>
        <p:txBody>
          <a:bodyPr wrap="square" rtlCol="0">
            <a:spAutoFit/>
          </a:bodyPr>
          <a:lstStyle/>
          <a:p>
            <a:r>
              <a:rPr kumimoji="1" lang="en-US" altLang="ja-JP" dirty="0">
                <a:solidFill>
                  <a:srgbClr val="FF0000"/>
                </a:solidFill>
              </a:rPr>
              <a:t>Data output [file]</a:t>
            </a:r>
            <a:endParaRPr kumimoji="1" lang="ja-JP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678225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347472"/>
            <a:ext cx="8305800" cy="1252728"/>
          </a:xfrm>
        </p:spPr>
        <p:txBody>
          <a:bodyPr>
            <a:noAutofit/>
          </a:bodyPr>
          <a:lstStyle/>
          <a:p>
            <a:r>
              <a:rPr lang="en-US" altLang="ja-JP" sz="3200" dirty="0"/>
              <a:t>VI.	Data Flow (Next)</a:t>
            </a:r>
            <a:endParaRPr kumimoji="1" lang="ja-JP" altLang="en-US" sz="18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2E0592B-B01D-490E-ACE7-2803B57A3B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7D425-4C6F-4B21-B8DA-8ADBF49CE01E}" type="datetime1">
              <a:rPr lang="ja-JP" altLang="en-US" smtClean="0"/>
              <a:t>2018/2/2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E6FD4E5A-DD08-4744-BAC9-5A02B05F91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ja-JP" altLang="en-US"/>
              <a:t>テストエース</a:t>
            </a:r>
            <a:endParaRPr lang="en-US" dirty="0"/>
          </a:p>
        </p:txBody>
      </p:sp>
      <p:pic>
        <p:nvPicPr>
          <p:cNvPr id="20" name="Picture 3">
            <a:extLst>
              <a:ext uri="{FF2B5EF4-FFF2-40B4-BE49-F238E27FC236}">
                <a16:creationId xmlns:a16="http://schemas.microsoft.com/office/drawing/2014/main" id="{75D717C9-309D-4A4B-8468-137A5D6B53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39085" y="-1"/>
            <a:ext cx="1204915" cy="3810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885F60B1-DAE3-47C7-B319-F71087C4A103}"/>
              </a:ext>
            </a:extLst>
          </p:cNvPr>
          <p:cNvSpPr txBox="1"/>
          <p:nvPr/>
        </p:nvSpPr>
        <p:spPr>
          <a:xfrm>
            <a:off x="457200" y="1600200"/>
            <a:ext cx="8229600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6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2.  DB</a:t>
            </a:r>
            <a:r>
              <a:rPr kumimoji="1" lang="zh-TW" altLang="en-US" sz="16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－＞変換－＞</a:t>
            </a:r>
            <a:r>
              <a:rPr kumimoji="1" lang="en-US" altLang="zh-TW" sz="16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DB</a:t>
            </a:r>
            <a:endParaRPr kumimoji="1" lang="en-US" altLang="ja-JP" sz="16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kumimoji="1" lang="en-US" altLang="ja-JP" sz="1600" dirty="0"/>
              <a:t>Created data base on data of database.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kumimoji="1" lang="en-US" altLang="ja-JP" sz="1600" dirty="0"/>
              <a:t>Output data to database.</a:t>
            </a:r>
            <a:endParaRPr kumimoji="1" lang="en-US" altLang="zh-TW" sz="1600" dirty="0"/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1EB1CA7-E8EA-4FD0-8873-3BC65A52E0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91047" y="2438400"/>
            <a:ext cx="4761905" cy="143809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421141A-0429-494D-B6F1-0EAFBE6F042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4362412"/>
            <a:ext cx="2752381" cy="2247619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5ACFC230-2045-4065-9E74-35E5418D84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89161" y="4362411"/>
            <a:ext cx="2752381" cy="2247619"/>
          </a:xfrm>
          <a:prstGeom prst="rect">
            <a:avLst/>
          </a:prstGeom>
        </p:spPr>
      </p:pic>
      <p:sp>
        <p:nvSpPr>
          <p:cNvPr id="23" name="Arrow: Right 22">
            <a:extLst>
              <a:ext uri="{FF2B5EF4-FFF2-40B4-BE49-F238E27FC236}">
                <a16:creationId xmlns:a16="http://schemas.microsoft.com/office/drawing/2014/main" id="{C5893A0E-66A6-42DD-886F-C1086806B28E}"/>
              </a:ext>
            </a:extLst>
          </p:cNvPr>
          <p:cNvSpPr/>
          <p:nvPr/>
        </p:nvSpPr>
        <p:spPr>
          <a:xfrm>
            <a:off x="3209582" y="4800600"/>
            <a:ext cx="2505418" cy="12954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Setting </a:t>
            </a:r>
            <a:r>
              <a:rPr kumimoji="1" lang="en-US" altLang="ja-JP" dirty="0" err="1"/>
              <a:t>unchange</a:t>
            </a:r>
            <a:endParaRPr kumimoji="1" lang="ja-JP" alt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9E09D37-544B-4AA2-93AF-BCFC80C10B18}"/>
              </a:ext>
            </a:extLst>
          </p:cNvPr>
          <p:cNvSpPr txBox="1"/>
          <p:nvPr/>
        </p:nvSpPr>
        <p:spPr>
          <a:xfrm>
            <a:off x="381000" y="3993079"/>
            <a:ext cx="2667000" cy="369332"/>
          </a:xfrm>
          <a:prstGeom prst="rect">
            <a:avLst/>
          </a:prstGeom>
          <a:solidFill>
            <a:srgbClr val="92D050"/>
          </a:solidFill>
        </p:spPr>
        <p:txBody>
          <a:bodyPr wrap="square" rtlCol="0">
            <a:spAutoFit/>
          </a:bodyPr>
          <a:lstStyle/>
          <a:p>
            <a:r>
              <a:rPr kumimoji="1" lang="en-US" altLang="ja-JP" dirty="0">
                <a:solidFill>
                  <a:srgbClr val="FF0000"/>
                </a:solidFill>
              </a:rPr>
              <a:t>Data input [database]</a:t>
            </a:r>
            <a:endParaRPr kumimoji="1" lang="ja-JP" altLang="en-US" dirty="0">
              <a:solidFill>
                <a:srgbClr val="FF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0FD84BF-9598-4772-BFD4-73EDB91F2F57}"/>
              </a:ext>
            </a:extLst>
          </p:cNvPr>
          <p:cNvSpPr txBox="1"/>
          <p:nvPr/>
        </p:nvSpPr>
        <p:spPr>
          <a:xfrm>
            <a:off x="5791200" y="3993079"/>
            <a:ext cx="2667000" cy="369332"/>
          </a:xfrm>
          <a:prstGeom prst="rect">
            <a:avLst/>
          </a:prstGeom>
          <a:solidFill>
            <a:srgbClr val="92D050"/>
          </a:solidFill>
        </p:spPr>
        <p:txBody>
          <a:bodyPr wrap="square" rtlCol="0">
            <a:spAutoFit/>
          </a:bodyPr>
          <a:lstStyle/>
          <a:p>
            <a:r>
              <a:rPr kumimoji="1" lang="en-US" altLang="ja-JP" dirty="0">
                <a:solidFill>
                  <a:srgbClr val="FF0000"/>
                </a:solidFill>
              </a:rPr>
              <a:t>Data </a:t>
            </a:r>
            <a:r>
              <a:rPr kumimoji="1" lang="en-US" altLang="ja-JP" dirty="0" err="1">
                <a:solidFill>
                  <a:srgbClr val="FF0000"/>
                </a:solidFill>
              </a:rPr>
              <a:t>ouput</a:t>
            </a:r>
            <a:r>
              <a:rPr kumimoji="1" lang="en-US" altLang="ja-JP" dirty="0">
                <a:solidFill>
                  <a:srgbClr val="FF0000"/>
                </a:solidFill>
              </a:rPr>
              <a:t> [database]</a:t>
            </a:r>
            <a:endParaRPr kumimoji="1" lang="ja-JP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261534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347472"/>
            <a:ext cx="8305800" cy="1252728"/>
          </a:xfrm>
        </p:spPr>
        <p:txBody>
          <a:bodyPr>
            <a:noAutofit/>
          </a:bodyPr>
          <a:lstStyle/>
          <a:p>
            <a:r>
              <a:rPr lang="en-US" altLang="ja-JP" sz="3200" dirty="0"/>
              <a:t>VI.	Data Flow (Next)</a:t>
            </a:r>
            <a:endParaRPr kumimoji="1" lang="ja-JP" altLang="en-US" sz="18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F02D49F4-0C79-4E21-B170-CCE39749C8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E6E14-2111-47F2-A6D9-20EBD2E2903B}" type="datetime1">
              <a:rPr lang="ja-JP" altLang="en-US" smtClean="0"/>
              <a:t>2018/2/2</a:t>
            </a:fld>
            <a:endParaRPr lang="en-US" dirty="0"/>
          </a:p>
        </p:txBody>
      </p:sp>
      <p:sp>
        <p:nvSpPr>
          <p:cNvPr id="20" name="Footer Placeholder 19">
            <a:extLst>
              <a:ext uri="{FF2B5EF4-FFF2-40B4-BE49-F238E27FC236}">
                <a16:creationId xmlns:a16="http://schemas.microsoft.com/office/drawing/2014/main" id="{0994316A-F591-4288-9E93-1A062759D9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ja-JP" altLang="en-US"/>
              <a:t>テストエース</a:t>
            </a:r>
            <a:endParaRPr lang="en-US" dirty="0"/>
          </a:p>
        </p:txBody>
      </p:sp>
      <p:pic>
        <p:nvPicPr>
          <p:cNvPr id="21" name="Picture 3">
            <a:extLst>
              <a:ext uri="{FF2B5EF4-FFF2-40B4-BE49-F238E27FC236}">
                <a16:creationId xmlns:a16="http://schemas.microsoft.com/office/drawing/2014/main" id="{DAA82D07-DF0A-45D2-A418-4E5B6F67E0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39085" y="-1"/>
            <a:ext cx="1204915" cy="3810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018C897A-8DEA-4ED0-ABCA-3F21EF340727}"/>
              </a:ext>
            </a:extLst>
          </p:cNvPr>
          <p:cNvSpPr txBox="1"/>
          <p:nvPr/>
        </p:nvSpPr>
        <p:spPr>
          <a:xfrm>
            <a:off x="457200" y="1600200"/>
            <a:ext cx="8229600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6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3.  </a:t>
            </a:r>
            <a:r>
              <a:rPr kumimoji="1" lang="ja-JP" altLang="en-US" sz="1600" dirty="0"/>
              <a:t>ロード</a:t>
            </a:r>
            <a:endParaRPr kumimoji="1" lang="en-US" altLang="ja-JP" sz="16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kumimoji="1" lang="en-US" altLang="ja-JP" sz="1600" dirty="0"/>
              <a:t>Created data base on data of file (CSV, EXCEL).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kumimoji="1" lang="en-US" altLang="ja-JP" sz="1600" dirty="0"/>
              <a:t>Output data to database.</a:t>
            </a: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C74F7D36-2B8F-4533-8FB8-850A22D3BA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81524" y="2438400"/>
            <a:ext cx="2980952" cy="1371429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02CCA423-6975-4D27-9AD3-2C027C1E1D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4443861"/>
            <a:ext cx="2704762" cy="2066667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A0289683-4BCE-46B0-B44F-1394CAEFC390}"/>
              </a:ext>
            </a:extLst>
          </p:cNvPr>
          <p:cNvSpPr txBox="1"/>
          <p:nvPr/>
        </p:nvSpPr>
        <p:spPr>
          <a:xfrm>
            <a:off x="381000" y="4050268"/>
            <a:ext cx="2667000" cy="369332"/>
          </a:xfrm>
          <a:prstGeom prst="rect">
            <a:avLst/>
          </a:prstGeom>
          <a:solidFill>
            <a:srgbClr val="92D050"/>
          </a:solidFill>
        </p:spPr>
        <p:txBody>
          <a:bodyPr wrap="square" rtlCol="0">
            <a:spAutoFit/>
          </a:bodyPr>
          <a:lstStyle/>
          <a:p>
            <a:r>
              <a:rPr kumimoji="1" lang="en-US" altLang="ja-JP" dirty="0">
                <a:solidFill>
                  <a:srgbClr val="FF0000"/>
                </a:solidFill>
              </a:rPr>
              <a:t>Data input [file]</a:t>
            </a:r>
            <a:endParaRPr kumimoji="1" lang="ja-JP" altLang="en-US" dirty="0">
              <a:solidFill>
                <a:srgbClr val="FF0000"/>
              </a:solidFill>
            </a:endParaRP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DB24C217-B4EC-499A-B903-3EB751E9773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89161" y="4362411"/>
            <a:ext cx="2752381" cy="2247619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14387888-24E3-4FF6-B49C-6D8AA7035627}"/>
              </a:ext>
            </a:extLst>
          </p:cNvPr>
          <p:cNvSpPr txBox="1"/>
          <p:nvPr/>
        </p:nvSpPr>
        <p:spPr>
          <a:xfrm>
            <a:off x="5791200" y="3993079"/>
            <a:ext cx="2667000" cy="369332"/>
          </a:xfrm>
          <a:prstGeom prst="rect">
            <a:avLst/>
          </a:prstGeom>
          <a:solidFill>
            <a:srgbClr val="92D050"/>
          </a:solidFill>
        </p:spPr>
        <p:txBody>
          <a:bodyPr wrap="square" rtlCol="0">
            <a:spAutoFit/>
          </a:bodyPr>
          <a:lstStyle/>
          <a:p>
            <a:r>
              <a:rPr kumimoji="1" lang="en-US" altLang="ja-JP" dirty="0">
                <a:solidFill>
                  <a:srgbClr val="FF0000"/>
                </a:solidFill>
              </a:rPr>
              <a:t>Data </a:t>
            </a:r>
            <a:r>
              <a:rPr kumimoji="1" lang="en-US" altLang="ja-JP" dirty="0" err="1">
                <a:solidFill>
                  <a:srgbClr val="FF0000"/>
                </a:solidFill>
              </a:rPr>
              <a:t>ouput</a:t>
            </a:r>
            <a:r>
              <a:rPr kumimoji="1" lang="en-US" altLang="ja-JP" dirty="0">
                <a:solidFill>
                  <a:srgbClr val="FF0000"/>
                </a:solidFill>
              </a:rPr>
              <a:t> [database]</a:t>
            </a:r>
            <a:endParaRPr kumimoji="1" lang="ja-JP" altLang="en-US" dirty="0">
              <a:solidFill>
                <a:srgbClr val="FF0000"/>
              </a:solidFill>
            </a:endParaRPr>
          </a:p>
        </p:txBody>
      </p:sp>
      <p:sp>
        <p:nvSpPr>
          <p:cNvPr id="28" name="Arrow: Right 27">
            <a:extLst>
              <a:ext uri="{FF2B5EF4-FFF2-40B4-BE49-F238E27FC236}">
                <a16:creationId xmlns:a16="http://schemas.microsoft.com/office/drawing/2014/main" id="{805B993B-D8ED-46BC-8852-B2FDB41AC55B}"/>
              </a:ext>
            </a:extLst>
          </p:cNvPr>
          <p:cNvSpPr/>
          <p:nvPr/>
        </p:nvSpPr>
        <p:spPr>
          <a:xfrm>
            <a:off x="3209582" y="4800600"/>
            <a:ext cx="2505418" cy="12954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8158192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347472"/>
            <a:ext cx="8305800" cy="1252728"/>
          </a:xfrm>
        </p:spPr>
        <p:txBody>
          <a:bodyPr>
            <a:noAutofit/>
          </a:bodyPr>
          <a:lstStyle/>
          <a:p>
            <a:r>
              <a:rPr lang="en-US" altLang="ja-JP" sz="3200" dirty="0"/>
              <a:t>VI.	Data Flow (Next)</a:t>
            </a:r>
            <a:endParaRPr kumimoji="1" lang="ja-JP" altLang="en-US" sz="18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70F78B7C-104C-4A3B-8B43-0DAEFA74C8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3BE0DD-717D-44C8-83A2-EFAD6E6BC6FE}" type="datetime1">
              <a:rPr lang="ja-JP" altLang="en-US" smtClean="0"/>
              <a:t>2018/2/2</a:t>
            </a:fld>
            <a:endParaRPr lang="en-US" dirty="0"/>
          </a:p>
        </p:txBody>
      </p:sp>
      <p:sp>
        <p:nvSpPr>
          <p:cNvPr id="20" name="Footer Placeholder 19">
            <a:extLst>
              <a:ext uri="{FF2B5EF4-FFF2-40B4-BE49-F238E27FC236}">
                <a16:creationId xmlns:a16="http://schemas.microsoft.com/office/drawing/2014/main" id="{D1D501D5-C449-47A4-8341-ABBCCFCDE4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ja-JP" altLang="en-US"/>
              <a:t>テストエース</a:t>
            </a:r>
            <a:endParaRPr lang="en-US" dirty="0"/>
          </a:p>
        </p:txBody>
      </p:sp>
      <p:pic>
        <p:nvPicPr>
          <p:cNvPr id="21" name="Picture 3">
            <a:extLst>
              <a:ext uri="{FF2B5EF4-FFF2-40B4-BE49-F238E27FC236}">
                <a16:creationId xmlns:a16="http://schemas.microsoft.com/office/drawing/2014/main" id="{B9A7C9E2-9324-41EF-BC7F-7F0BA28F3A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39085" y="-1"/>
            <a:ext cx="1204915" cy="3810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58C00BFF-A040-47A4-A299-FAC32D1B9608}"/>
              </a:ext>
            </a:extLst>
          </p:cNvPr>
          <p:cNvSpPr txBox="1"/>
          <p:nvPr/>
        </p:nvSpPr>
        <p:spPr>
          <a:xfrm>
            <a:off x="457200" y="1600200"/>
            <a:ext cx="8229600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6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4.  </a:t>
            </a:r>
            <a:r>
              <a:rPr kumimoji="1" lang="ja-JP" altLang="en-US" sz="1600" dirty="0"/>
              <a:t>ファイル－＞変換－＞ファイル</a:t>
            </a:r>
            <a:endParaRPr kumimoji="1" lang="en-US" altLang="ja-JP" sz="16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kumimoji="1" lang="en-US" altLang="ja-JP" sz="1600" dirty="0"/>
              <a:t>Created data base on data of file (CSV, EXCEL).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kumimoji="1" lang="en-US" altLang="ja-JP" sz="1600" dirty="0"/>
              <a:t>Output data to file (CSV, EXCEL).</a:t>
            </a:r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03AE279D-546F-41A0-B185-A91B3A5318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14857" y="2438400"/>
            <a:ext cx="4714286" cy="14000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605FC285-FC88-4655-AAE2-ADE2E13A191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4443861"/>
            <a:ext cx="2704762" cy="2066667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1774353A-50B4-4488-8C61-950B8BF6ED22}"/>
              </a:ext>
            </a:extLst>
          </p:cNvPr>
          <p:cNvSpPr txBox="1"/>
          <p:nvPr/>
        </p:nvSpPr>
        <p:spPr>
          <a:xfrm>
            <a:off x="381000" y="4050268"/>
            <a:ext cx="2667000" cy="369332"/>
          </a:xfrm>
          <a:prstGeom prst="rect">
            <a:avLst/>
          </a:prstGeom>
          <a:solidFill>
            <a:srgbClr val="92D050"/>
          </a:solidFill>
        </p:spPr>
        <p:txBody>
          <a:bodyPr wrap="square" rtlCol="0">
            <a:spAutoFit/>
          </a:bodyPr>
          <a:lstStyle/>
          <a:p>
            <a:r>
              <a:rPr kumimoji="1" lang="en-US" altLang="ja-JP" dirty="0">
                <a:solidFill>
                  <a:srgbClr val="FF0000"/>
                </a:solidFill>
              </a:rPr>
              <a:t>Data input [file]</a:t>
            </a:r>
            <a:endParaRPr kumimoji="1" lang="ja-JP" altLang="en-US" dirty="0">
              <a:solidFill>
                <a:srgbClr val="FF0000"/>
              </a:solidFill>
            </a:endParaRPr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BF029A15-8B33-41B3-A3EE-A252F5B5E0DA}"/>
              </a:ext>
            </a:extLst>
          </p:cNvPr>
          <p:cNvSpPr/>
          <p:nvPr/>
        </p:nvSpPr>
        <p:spPr>
          <a:xfrm>
            <a:off x="3209582" y="4800600"/>
            <a:ext cx="2505418" cy="12954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Setting </a:t>
            </a:r>
            <a:r>
              <a:rPr kumimoji="1" lang="en-US" altLang="ja-JP" dirty="0" err="1"/>
              <a:t>unchange</a:t>
            </a:r>
            <a:endParaRPr kumimoji="1" lang="ja-JP" altLang="en-US" dirty="0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74DEFE24-7E79-4E40-9B91-EF39C43E9E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64027" y="4417466"/>
            <a:ext cx="2704762" cy="2066667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46E42D9F-7545-408A-A991-750ACFC0C4EC}"/>
              </a:ext>
            </a:extLst>
          </p:cNvPr>
          <p:cNvSpPr txBox="1"/>
          <p:nvPr/>
        </p:nvSpPr>
        <p:spPr>
          <a:xfrm>
            <a:off x="5964027" y="4023873"/>
            <a:ext cx="2667000" cy="369332"/>
          </a:xfrm>
          <a:prstGeom prst="rect">
            <a:avLst/>
          </a:prstGeom>
          <a:solidFill>
            <a:srgbClr val="92D050"/>
          </a:solidFill>
        </p:spPr>
        <p:txBody>
          <a:bodyPr wrap="square" rtlCol="0">
            <a:spAutoFit/>
          </a:bodyPr>
          <a:lstStyle/>
          <a:p>
            <a:r>
              <a:rPr kumimoji="1" lang="en-US" altLang="ja-JP" dirty="0">
                <a:solidFill>
                  <a:srgbClr val="FF0000"/>
                </a:solidFill>
              </a:rPr>
              <a:t>Data output [file]</a:t>
            </a:r>
            <a:endParaRPr kumimoji="1" lang="ja-JP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145164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347472"/>
            <a:ext cx="8305800" cy="1252728"/>
          </a:xfrm>
        </p:spPr>
        <p:txBody>
          <a:bodyPr>
            <a:noAutofit/>
          </a:bodyPr>
          <a:lstStyle/>
          <a:p>
            <a:r>
              <a:rPr lang="en-US" altLang="ja-JP" sz="3200" dirty="0"/>
              <a:t>VI.	Data Flow (Next)</a:t>
            </a:r>
            <a:endParaRPr kumimoji="1" lang="ja-JP" altLang="en-US" sz="18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0075C6A-D83C-45F0-BB4C-37C8069449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32388E-8CBF-4657-9F6B-257C9138C327}" type="datetime1">
              <a:rPr lang="ja-JP" altLang="en-US" smtClean="0"/>
              <a:t>2018/2/2</a:t>
            </a:fld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2533E124-4F2D-4B3C-B96D-3C656E5781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ja-JP" altLang="en-US"/>
              <a:t>テストエース</a:t>
            </a:r>
            <a:endParaRPr lang="en-US" dirty="0"/>
          </a:p>
        </p:txBody>
      </p:sp>
      <p:pic>
        <p:nvPicPr>
          <p:cNvPr id="13" name="Picture 3">
            <a:extLst>
              <a:ext uri="{FF2B5EF4-FFF2-40B4-BE49-F238E27FC236}">
                <a16:creationId xmlns:a16="http://schemas.microsoft.com/office/drawing/2014/main" id="{57FD399C-9B6C-4C74-91E0-CE6EC6B7EF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39085" y="-1"/>
            <a:ext cx="1204915" cy="3810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56A0693-6EFD-4319-8112-3CEBABC4DFDB}"/>
              </a:ext>
            </a:extLst>
          </p:cNvPr>
          <p:cNvSpPr txBox="1"/>
          <p:nvPr/>
        </p:nvSpPr>
        <p:spPr>
          <a:xfrm>
            <a:off x="457200" y="1600200"/>
            <a:ext cx="8229600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6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5.  </a:t>
            </a:r>
            <a:r>
              <a:rPr kumimoji="1" lang="ja-JP" altLang="en-US" sz="1600" dirty="0"/>
              <a:t>生成－＞ファイル</a:t>
            </a:r>
            <a:endParaRPr kumimoji="1" lang="en-US" altLang="ja-JP" sz="16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kumimoji="1" lang="en-US" altLang="ja-JP" sz="1600" dirty="0"/>
              <a:t>Created data don’t base on database’s data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kumimoji="1" lang="en-US" altLang="ja-JP" sz="1600" dirty="0"/>
              <a:t>Output data to file (CSV, EXCEL).</a:t>
            </a: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1FFE60D7-6B72-49C4-912D-48D39837A9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14857" y="2438400"/>
            <a:ext cx="4714286" cy="140952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9E1FD51F-AD69-4832-ABDF-4DD02D48F8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4362411"/>
            <a:ext cx="2752381" cy="2247619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D506ECCF-672C-4AD8-A1C8-CBE38497A749}"/>
              </a:ext>
            </a:extLst>
          </p:cNvPr>
          <p:cNvSpPr txBox="1"/>
          <p:nvPr/>
        </p:nvSpPr>
        <p:spPr>
          <a:xfrm>
            <a:off x="383039" y="3993079"/>
            <a:ext cx="2667000" cy="369332"/>
          </a:xfrm>
          <a:prstGeom prst="rect">
            <a:avLst/>
          </a:prstGeom>
          <a:solidFill>
            <a:srgbClr val="92D050"/>
          </a:solidFill>
        </p:spPr>
        <p:txBody>
          <a:bodyPr wrap="square" rtlCol="0">
            <a:spAutoFit/>
          </a:bodyPr>
          <a:lstStyle/>
          <a:p>
            <a:r>
              <a:rPr kumimoji="1" lang="en-US" altLang="ja-JP" dirty="0">
                <a:solidFill>
                  <a:srgbClr val="FF0000"/>
                </a:solidFill>
              </a:rPr>
              <a:t>Data input [database]</a:t>
            </a:r>
            <a:endParaRPr kumimoji="1" lang="ja-JP" altLang="en-US" dirty="0">
              <a:solidFill>
                <a:srgbClr val="FF0000"/>
              </a:solidFill>
            </a:endParaRPr>
          </a:p>
        </p:txBody>
      </p:sp>
      <p:sp>
        <p:nvSpPr>
          <p:cNvPr id="18" name="Arrow: Right 17">
            <a:extLst>
              <a:ext uri="{FF2B5EF4-FFF2-40B4-BE49-F238E27FC236}">
                <a16:creationId xmlns:a16="http://schemas.microsoft.com/office/drawing/2014/main" id="{AB524DEB-383A-4C96-A8E4-96C0B6DBB9A8}"/>
              </a:ext>
            </a:extLst>
          </p:cNvPr>
          <p:cNvSpPr/>
          <p:nvPr/>
        </p:nvSpPr>
        <p:spPr>
          <a:xfrm>
            <a:off x="3209582" y="4800600"/>
            <a:ext cx="2505418" cy="12954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Setting </a:t>
            </a:r>
            <a:r>
              <a:rPr kumimoji="1" lang="en-US" altLang="ja-JP" dirty="0" err="1"/>
              <a:t>unchange</a:t>
            </a:r>
            <a:endParaRPr kumimoji="1" lang="ja-JP" alt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4C8FB6ED-CD32-4145-845B-0263A8E688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91201" y="4419600"/>
            <a:ext cx="2895599" cy="2133333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4EC61B8D-C848-4D0E-9F1F-06DAD4897818}"/>
              </a:ext>
            </a:extLst>
          </p:cNvPr>
          <p:cNvSpPr txBox="1"/>
          <p:nvPr/>
        </p:nvSpPr>
        <p:spPr>
          <a:xfrm>
            <a:off x="5791201" y="4047023"/>
            <a:ext cx="2667000" cy="369332"/>
          </a:xfrm>
          <a:prstGeom prst="rect">
            <a:avLst/>
          </a:prstGeom>
          <a:solidFill>
            <a:srgbClr val="92D050"/>
          </a:solidFill>
        </p:spPr>
        <p:txBody>
          <a:bodyPr wrap="square" rtlCol="0">
            <a:spAutoFit/>
          </a:bodyPr>
          <a:lstStyle/>
          <a:p>
            <a:r>
              <a:rPr kumimoji="1" lang="en-US" altLang="ja-JP" dirty="0">
                <a:solidFill>
                  <a:srgbClr val="FF0000"/>
                </a:solidFill>
              </a:rPr>
              <a:t>Data output [file]</a:t>
            </a:r>
            <a:endParaRPr kumimoji="1" lang="ja-JP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503942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347472"/>
            <a:ext cx="8305800" cy="1252728"/>
          </a:xfrm>
        </p:spPr>
        <p:txBody>
          <a:bodyPr>
            <a:noAutofit/>
          </a:bodyPr>
          <a:lstStyle/>
          <a:p>
            <a:r>
              <a:rPr lang="en-US" altLang="ja-JP" sz="3200" dirty="0"/>
              <a:t>VI.	Data Flow (Next)</a:t>
            </a:r>
            <a:endParaRPr kumimoji="1" lang="ja-JP" altLang="en-US" sz="18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BA22DEE3-0FD6-47BB-8100-54AC547A3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01CF65-D804-4276-BB50-B751EBAA5A50}" type="datetime1">
              <a:rPr lang="ja-JP" altLang="en-US" smtClean="0"/>
              <a:t>2018/2/2</a:t>
            </a:fld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5A97A01B-3940-488D-BDA6-4B89866456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ja-JP" altLang="en-US"/>
              <a:t>テストエース</a:t>
            </a:r>
            <a:endParaRPr lang="en-US" dirty="0"/>
          </a:p>
        </p:txBody>
      </p:sp>
      <p:pic>
        <p:nvPicPr>
          <p:cNvPr id="14" name="Picture 3">
            <a:extLst>
              <a:ext uri="{FF2B5EF4-FFF2-40B4-BE49-F238E27FC236}">
                <a16:creationId xmlns:a16="http://schemas.microsoft.com/office/drawing/2014/main" id="{0A62F978-3FA8-40C3-B12E-590BCD0F5D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39085" y="-1"/>
            <a:ext cx="1204915" cy="3810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07146F1-887B-425B-BA31-F7CCEE1E9D6B}"/>
              </a:ext>
            </a:extLst>
          </p:cNvPr>
          <p:cNvSpPr txBox="1"/>
          <p:nvPr/>
        </p:nvSpPr>
        <p:spPr>
          <a:xfrm>
            <a:off x="457200" y="1600200"/>
            <a:ext cx="8229600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6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6.  </a:t>
            </a:r>
            <a:r>
              <a:rPr kumimoji="1" lang="ja-JP" altLang="en-US" sz="1600" dirty="0"/>
              <a:t>生成－＞</a:t>
            </a:r>
            <a:r>
              <a:rPr kumimoji="1" lang="en-US" altLang="ja-JP" sz="1600" dirty="0"/>
              <a:t>DB</a:t>
            </a:r>
            <a:endParaRPr kumimoji="1" lang="en-US" altLang="ja-JP" sz="16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kumimoji="1" lang="en-US" altLang="ja-JP" sz="1600" dirty="0"/>
              <a:t>Created data don’t base on database’s data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kumimoji="1" lang="en-US" altLang="ja-JP" sz="1600" dirty="0"/>
              <a:t>Output data to database.</a:t>
            </a: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5B380F9-E7E6-459D-891A-B3EAEF9208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43428" y="2438400"/>
            <a:ext cx="4657143" cy="135238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FA0AD32-60C3-49F3-B7A7-1D0B60D637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4362411"/>
            <a:ext cx="2752381" cy="2247619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A13FED43-BE51-4DC9-B25C-FC415A47723F}"/>
              </a:ext>
            </a:extLst>
          </p:cNvPr>
          <p:cNvSpPr txBox="1"/>
          <p:nvPr/>
        </p:nvSpPr>
        <p:spPr>
          <a:xfrm>
            <a:off x="383039" y="3993079"/>
            <a:ext cx="2667000" cy="369332"/>
          </a:xfrm>
          <a:prstGeom prst="rect">
            <a:avLst/>
          </a:prstGeom>
          <a:solidFill>
            <a:srgbClr val="92D050"/>
          </a:solidFill>
        </p:spPr>
        <p:txBody>
          <a:bodyPr wrap="square" rtlCol="0">
            <a:spAutoFit/>
          </a:bodyPr>
          <a:lstStyle/>
          <a:p>
            <a:r>
              <a:rPr kumimoji="1" lang="en-US" altLang="ja-JP" dirty="0">
                <a:solidFill>
                  <a:srgbClr val="FF0000"/>
                </a:solidFill>
              </a:rPr>
              <a:t>Data input [database]</a:t>
            </a:r>
            <a:endParaRPr kumimoji="1" lang="ja-JP" altLang="en-US" dirty="0">
              <a:solidFill>
                <a:srgbClr val="FF0000"/>
              </a:solidFill>
            </a:endParaRPr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8B2D88D1-E0CF-4C75-B7AB-915171AD2166}"/>
              </a:ext>
            </a:extLst>
          </p:cNvPr>
          <p:cNvSpPr/>
          <p:nvPr/>
        </p:nvSpPr>
        <p:spPr>
          <a:xfrm>
            <a:off x="3209582" y="4800600"/>
            <a:ext cx="2505418" cy="12954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Setting </a:t>
            </a:r>
            <a:r>
              <a:rPr kumimoji="1" lang="en-US" altLang="ja-JP" dirty="0" err="1"/>
              <a:t>unchange</a:t>
            </a:r>
            <a:endParaRPr kumimoji="1" lang="ja-JP" altLang="en-US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6470E11D-F188-45B1-8B8D-AAE4E6B2358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01124" y="4291157"/>
            <a:ext cx="2885676" cy="2314286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50A309E3-5BD8-4603-892E-0A0AFFE93F2D}"/>
              </a:ext>
            </a:extLst>
          </p:cNvPr>
          <p:cNvSpPr txBox="1"/>
          <p:nvPr/>
        </p:nvSpPr>
        <p:spPr>
          <a:xfrm>
            <a:off x="5867400" y="3989522"/>
            <a:ext cx="2667000" cy="369332"/>
          </a:xfrm>
          <a:prstGeom prst="rect">
            <a:avLst/>
          </a:prstGeom>
          <a:solidFill>
            <a:srgbClr val="92D050"/>
          </a:solidFill>
        </p:spPr>
        <p:txBody>
          <a:bodyPr wrap="square" rtlCol="0">
            <a:spAutoFit/>
          </a:bodyPr>
          <a:lstStyle/>
          <a:p>
            <a:r>
              <a:rPr kumimoji="1" lang="en-US" altLang="ja-JP" dirty="0">
                <a:solidFill>
                  <a:srgbClr val="FF0000"/>
                </a:solidFill>
              </a:rPr>
              <a:t>Data output [database]</a:t>
            </a:r>
            <a:endParaRPr kumimoji="1" lang="ja-JP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436241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347472"/>
            <a:ext cx="8305800" cy="1252728"/>
          </a:xfrm>
        </p:spPr>
        <p:txBody>
          <a:bodyPr>
            <a:noAutofit/>
          </a:bodyPr>
          <a:lstStyle/>
          <a:p>
            <a:r>
              <a:rPr lang="en-US" altLang="ja-JP" sz="3200" dirty="0"/>
              <a:t>V.	Conversion Type</a:t>
            </a:r>
            <a:endParaRPr kumimoji="1" lang="ja-JP" altLang="en-US" sz="18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68DAC83-FCBA-4D1C-A281-02B3D9540A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4A3E31-0453-4814-A14C-981036D14FB8}" type="datetime1">
              <a:rPr lang="ja-JP" altLang="en-US" smtClean="0"/>
              <a:t>2018/2/2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AA8F9DD5-AE60-48DE-8A29-96299BD07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ja-JP" altLang="en-US"/>
              <a:t>テストエース</a:t>
            </a:r>
            <a:endParaRPr lang="en-US" dirty="0"/>
          </a:p>
        </p:txBody>
      </p:sp>
      <p:pic>
        <p:nvPicPr>
          <p:cNvPr id="12" name="Picture 3">
            <a:extLst>
              <a:ext uri="{FF2B5EF4-FFF2-40B4-BE49-F238E27FC236}">
                <a16:creationId xmlns:a16="http://schemas.microsoft.com/office/drawing/2014/main" id="{80305C60-35D3-4DA8-9A77-F759274F8A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39085" y="-1"/>
            <a:ext cx="1204915" cy="3810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438C7D0-5CB7-45CA-89DF-AE73392C0225}"/>
              </a:ext>
            </a:extLst>
          </p:cNvPr>
          <p:cNvSpPr txBox="1"/>
          <p:nvPr/>
        </p:nvSpPr>
        <p:spPr>
          <a:xfrm>
            <a:off x="457200" y="1600200"/>
            <a:ext cx="8229600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600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Conversion type list:</a:t>
            </a: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ja-JP" sz="1600" dirty="0">
                <a:ln w="0"/>
              </a:rPr>
              <a:t>Unchanged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ja-JP" sz="1600" dirty="0">
                <a:ln w="0"/>
              </a:rPr>
              <a:t>Mask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ja-JP" sz="1600" dirty="0">
                <a:ln w="0"/>
              </a:rPr>
              <a:t>Random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ja-JP" sz="1600" dirty="0" err="1">
                <a:ln w="0"/>
              </a:rPr>
              <a:t>Gizidata</a:t>
            </a:r>
            <a:endParaRPr kumimoji="1" lang="en-US" altLang="ja-JP" sz="1600" dirty="0">
              <a:ln w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ja-JP" sz="1600" dirty="0">
                <a:ln w="0"/>
              </a:rPr>
              <a:t>Use-</a:t>
            </a:r>
            <a:r>
              <a:rPr kumimoji="1" lang="en-US" altLang="ja-JP" sz="1600" dirty="0" err="1">
                <a:ln w="0"/>
              </a:rPr>
              <a:t>defind</a:t>
            </a:r>
            <a:r>
              <a:rPr kumimoji="1" lang="en-US" altLang="ja-JP" sz="1600" dirty="0">
                <a:ln w="0"/>
              </a:rPr>
              <a:t> function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ja-JP" sz="1600" dirty="0">
                <a:ln w="0"/>
              </a:rPr>
              <a:t>Foreign key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ja-JP" sz="1600" dirty="0">
                <a:ln w="0"/>
              </a:rPr>
              <a:t>Dependent column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ja-JP" sz="1600" dirty="0">
                <a:ln w="0"/>
              </a:rPr>
              <a:t>Sequence number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ja-JP" sz="1600" dirty="0">
                <a:ln w="0"/>
              </a:rPr>
              <a:t>Fixed value</a:t>
            </a: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3630901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347472"/>
            <a:ext cx="8229600" cy="1252728"/>
          </a:xfrm>
        </p:spPr>
        <p:txBody>
          <a:bodyPr>
            <a:noAutofit/>
          </a:bodyPr>
          <a:lstStyle/>
          <a:p>
            <a:pPr marL="514350" indent="-514350"/>
            <a:r>
              <a:rPr lang="en-US" altLang="ja-JP" sz="3200" dirty="0"/>
              <a:t>V.	Conversion Type (Next)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AB113BA-0AEC-4CAB-AC5D-9DD9C0B488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CA89C-BD7C-452A-B795-EE0078030A13}" type="datetime1">
              <a:rPr lang="ja-JP" altLang="en-US" smtClean="0"/>
              <a:t>2018/2/2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31023B7-3EA7-438B-AC73-36AE4096DE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ja-JP" altLang="en-US"/>
              <a:t>テストエース</a:t>
            </a:r>
            <a:endParaRPr lang="en-US" dirty="0"/>
          </a:p>
        </p:txBody>
      </p:sp>
      <p:pic>
        <p:nvPicPr>
          <p:cNvPr id="18" name="Picture 3">
            <a:extLst>
              <a:ext uri="{FF2B5EF4-FFF2-40B4-BE49-F238E27FC236}">
                <a16:creationId xmlns:a16="http://schemas.microsoft.com/office/drawing/2014/main" id="{67258F07-00F0-46B3-A05E-73DC260C91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39085" y="-1"/>
            <a:ext cx="1204915" cy="3810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ECC2F7B5-E875-436B-A49C-A8AA68B1700C}"/>
              </a:ext>
            </a:extLst>
          </p:cNvPr>
          <p:cNvSpPr txBox="1"/>
          <p:nvPr/>
        </p:nvSpPr>
        <p:spPr>
          <a:xfrm>
            <a:off x="457200" y="1600200"/>
            <a:ext cx="8229600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ln w="0"/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1.  Unchanged:</a:t>
            </a:r>
            <a:endParaRPr kumimoji="1" lang="en-US" altLang="ja-JP" sz="1600" dirty="0">
              <a:ln w="0"/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ja-JP" sz="1600" dirty="0">
                <a:ln w="0"/>
              </a:rPr>
              <a:t>Created data like real data in database or file.</a:t>
            </a:r>
          </a:p>
          <a:p>
            <a:endParaRPr kumimoji="1" lang="en-US" altLang="ja-JP" sz="1600" dirty="0">
              <a:ln w="0"/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7FD2C13-1062-40CB-BF46-A4BF154D6A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" y="2514600"/>
            <a:ext cx="3438095" cy="271428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C87D468-D725-4B2B-B5D6-19644FC5B9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5857" y="2590800"/>
            <a:ext cx="3457143" cy="2733333"/>
          </a:xfrm>
          <a:prstGeom prst="rect">
            <a:avLst/>
          </a:prstGeom>
        </p:spPr>
      </p:pic>
      <p:sp>
        <p:nvSpPr>
          <p:cNvPr id="11" name="Arrow: Right 10">
            <a:extLst>
              <a:ext uri="{FF2B5EF4-FFF2-40B4-BE49-F238E27FC236}">
                <a16:creationId xmlns:a16="http://schemas.microsoft.com/office/drawing/2014/main" id="{6850A5AB-00DF-47E2-9CAD-7009A32A7A4D}"/>
              </a:ext>
            </a:extLst>
          </p:cNvPr>
          <p:cNvSpPr/>
          <p:nvPr/>
        </p:nvSpPr>
        <p:spPr>
          <a:xfrm>
            <a:off x="3838144" y="3400086"/>
            <a:ext cx="1419656" cy="9144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F606DC3-7F3E-49E3-9D3C-D65091E0FE4D}"/>
              </a:ext>
            </a:extLst>
          </p:cNvPr>
          <p:cNvSpPr/>
          <p:nvPr/>
        </p:nvSpPr>
        <p:spPr>
          <a:xfrm>
            <a:off x="1447800" y="2971800"/>
            <a:ext cx="990600" cy="22098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2DE9AB96-2FFC-4495-99BF-CAC63FE21CE8}"/>
              </a:ext>
            </a:extLst>
          </p:cNvPr>
          <p:cNvSpPr/>
          <p:nvPr/>
        </p:nvSpPr>
        <p:spPr>
          <a:xfrm>
            <a:off x="6400800" y="2971800"/>
            <a:ext cx="990600" cy="22098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535851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347472"/>
            <a:ext cx="8229600" cy="1252728"/>
          </a:xfrm>
        </p:spPr>
        <p:txBody>
          <a:bodyPr>
            <a:noAutofit/>
          </a:bodyPr>
          <a:lstStyle/>
          <a:p>
            <a:pPr marL="514350" indent="-514350"/>
            <a:r>
              <a:rPr lang="en-US" altLang="ja-JP" sz="3200" dirty="0"/>
              <a:t>V.	Conversion Type (Next)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424A25-79A0-4AE4-9E4A-E522763E6C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8484D1-8980-4390-8539-4C866654093B}" type="datetime1">
              <a:rPr lang="ja-JP" altLang="en-US" smtClean="0"/>
              <a:t>2018/2/2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B56E44E-BF6B-4F11-A263-3EEC30FDC1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ja-JP" altLang="en-US"/>
              <a:t>テストエース</a:t>
            </a:r>
            <a:endParaRPr lang="en-US" dirty="0"/>
          </a:p>
        </p:txBody>
      </p:sp>
      <p:pic>
        <p:nvPicPr>
          <p:cNvPr id="39" name="Picture 3">
            <a:extLst>
              <a:ext uri="{FF2B5EF4-FFF2-40B4-BE49-F238E27FC236}">
                <a16:creationId xmlns:a16="http://schemas.microsoft.com/office/drawing/2014/main" id="{B48BB05F-6652-46D7-82FE-65B8763B44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39085" y="-1"/>
            <a:ext cx="1204915" cy="3810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82291294-1888-4A7C-B32F-CA723BE155FF}"/>
              </a:ext>
            </a:extLst>
          </p:cNvPr>
          <p:cNvSpPr txBox="1"/>
          <p:nvPr/>
        </p:nvSpPr>
        <p:spPr>
          <a:xfrm>
            <a:off x="457200" y="1600200"/>
            <a:ext cx="8229600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ln w="0"/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1. Mask:</a:t>
            </a:r>
            <a:endParaRPr kumimoji="1" lang="en-US" altLang="ja-JP" sz="1600" dirty="0">
              <a:ln w="0"/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ja-JP" sz="1600" dirty="0">
                <a:ln w="0"/>
              </a:rPr>
              <a:t>Created data do not like real data in database or file.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ja-JP" sz="1600" dirty="0">
                <a:ln w="0"/>
              </a:rPr>
              <a:t>Data are replaced some things by setting.</a:t>
            </a: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E6F2150-05AE-49D4-8D88-94069AFAF6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8956" y="2971800"/>
            <a:ext cx="3571429" cy="284761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ACC60BB-6CFF-4A06-B051-BBB67B2B320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4723" y="2971800"/>
            <a:ext cx="3647619" cy="2885714"/>
          </a:xfrm>
          <a:prstGeom prst="rect">
            <a:avLst/>
          </a:prstGeom>
        </p:spPr>
      </p:pic>
      <p:sp>
        <p:nvSpPr>
          <p:cNvPr id="11" name="Arrow: Right 10">
            <a:extLst>
              <a:ext uri="{FF2B5EF4-FFF2-40B4-BE49-F238E27FC236}">
                <a16:creationId xmlns:a16="http://schemas.microsoft.com/office/drawing/2014/main" id="{EE2E6A80-6E28-4691-8C84-3F4FEEBEDF30}"/>
              </a:ext>
            </a:extLst>
          </p:cNvPr>
          <p:cNvSpPr/>
          <p:nvPr/>
        </p:nvSpPr>
        <p:spPr>
          <a:xfrm>
            <a:off x="3880385" y="3886200"/>
            <a:ext cx="1072615" cy="8382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0F83F983-FC2C-4B24-B417-33C3679E256B}"/>
              </a:ext>
            </a:extLst>
          </p:cNvPr>
          <p:cNvSpPr/>
          <p:nvPr/>
        </p:nvSpPr>
        <p:spPr>
          <a:xfrm>
            <a:off x="1447800" y="3429000"/>
            <a:ext cx="990600" cy="22098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C347F5E4-02CB-4A60-A15E-F35561DFD7B9}"/>
              </a:ext>
            </a:extLst>
          </p:cNvPr>
          <p:cNvSpPr/>
          <p:nvPr/>
        </p:nvSpPr>
        <p:spPr>
          <a:xfrm>
            <a:off x="6172200" y="3352800"/>
            <a:ext cx="990600" cy="22098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9957458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347472"/>
            <a:ext cx="8229600" cy="1252728"/>
          </a:xfrm>
        </p:spPr>
        <p:txBody>
          <a:bodyPr>
            <a:noAutofit/>
          </a:bodyPr>
          <a:lstStyle/>
          <a:p>
            <a:pPr marL="514350" indent="-514350"/>
            <a:r>
              <a:rPr lang="en-US" altLang="ja-JP" sz="3200" dirty="0"/>
              <a:t>V.	Conversion Type (Next)</a:t>
            </a:r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D4FAD3-E3AF-4541-8EED-7C256A4CD9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E5AE56-3E97-49AB-9E09-F7A31BC5B444}" type="datetime1">
              <a:rPr lang="ja-JP" altLang="en-US" smtClean="0"/>
              <a:t>2018/2/2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FB9E4D1-282F-4FE8-BE5C-957865617D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ja-JP" altLang="en-US"/>
              <a:t>テストエース</a:t>
            </a:r>
            <a:endParaRPr lang="en-US" dirty="0"/>
          </a:p>
        </p:txBody>
      </p:sp>
      <p:pic>
        <p:nvPicPr>
          <p:cNvPr id="53" name="Picture 3">
            <a:extLst>
              <a:ext uri="{FF2B5EF4-FFF2-40B4-BE49-F238E27FC236}">
                <a16:creationId xmlns:a16="http://schemas.microsoft.com/office/drawing/2014/main" id="{9FAED3DF-E42A-4406-949F-D79B38CF9D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39085" y="-1"/>
            <a:ext cx="1204915" cy="3810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7E7FA2FA-B068-4C1C-87E8-27BAF3D740A8}"/>
              </a:ext>
            </a:extLst>
          </p:cNvPr>
          <p:cNvSpPr txBox="1"/>
          <p:nvPr/>
        </p:nvSpPr>
        <p:spPr>
          <a:xfrm>
            <a:off x="457200" y="1600200"/>
            <a:ext cx="8229600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ln w="0"/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1. Random:</a:t>
            </a:r>
            <a:endParaRPr kumimoji="1" lang="en-US" altLang="ja-JP" sz="1600" dirty="0">
              <a:ln w="0"/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ja-JP" sz="1600" dirty="0">
                <a:ln w="0"/>
              </a:rPr>
              <a:t>Created data do not like real data in database or file.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ja-JP" sz="1600" dirty="0">
                <a:ln w="0"/>
              </a:rPr>
              <a:t>Data are created base on setting.</a:t>
            </a: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4E19F43-EB12-4E6E-8731-DA9885405B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699055"/>
            <a:ext cx="2723809" cy="281904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E69C026-32FB-4DAB-A221-20436C2771C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31126" y="2641913"/>
            <a:ext cx="2723809" cy="2876190"/>
          </a:xfrm>
          <a:prstGeom prst="rect">
            <a:avLst/>
          </a:prstGeom>
        </p:spPr>
      </p:pic>
      <p:sp>
        <p:nvSpPr>
          <p:cNvPr id="12" name="Arrow: Right 11">
            <a:extLst>
              <a:ext uri="{FF2B5EF4-FFF2-40B4-BE49-F238E27FC236}">
                <a16:creationId xmlns:a16="http://schemas.microsoft.com/office/drawing/2014/main" id="{906DDF56-6640-40ED-AA46-61BEA58575E1}"/>
              </a:ext>
            </a:extLst>
          </p:cNvPr>
          <p:cNvSpPr/>
          <p:nvPr/>
        </p:nvSpPr>
        <p:spPr>
          <a:xfrm>
            <a:off x="3429000" y="3429000"/>
            <a:ext cx="2362200" cy="1143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73519607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347472"/>
            <a:ext cx="8229600" cy="1252728"/>
          </a:xfrm>
        </p:spPr>
        <p:txBody>
          <a:bodyPr>
            <a:noAutofit/>
          </a:bodyPr>
          <a:lstStyle/>
          <a:p>
            <a:pPr marL="514350" indent="-514350"/>
            <a:r>
              <a:rPr lang="en-US" altLang="ja-JP" sz="3200" dirty="0"/>
              <a:t>V.	Conversion Type (Next)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7FBB589A-EEDB-422E-B58F-F786E10DC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AC030-58E7-4099-945A-ACC7E79E50B6}" type="datetime1">
              <a:rPr lang="ja-JP" altLang="en-US" smtClean="0"/>
              <a:t>2018/2/2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AAC4918-7B28-4683-89B6-C1AA6EDCAA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ja-JP" altLang="en-US"/>
              <a:t>テストエース</a:t>
            </a:r>
            <a:endParaRPr lang="en-US" dirty="0"/>
          </a:p>
        </p:txBody>
      </p:sp>
      <p:pic>
        <p:nvPicPr>
          <p:cNvPr id="52" name="Picture 3">
            <a:extLst>
              <a:ext uri="{FF2B5EF4-FFF2-40B4-BE49-F238E27FC236}">
                <a16:creationId xmlns:a16="http://schemas.microsoft.com/office/drawing/2014/main" id="{D33382BD-A86C-4E17-9A4B-E255FD9DAF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39085" y="-1"/>
            <a:ext cx="1204915" cy="3810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B5F55BCF-7BB8-47B0-92AE-62CF6B58B83A}"/>
              </a:ext>
            </a:extLst>
          </p:cNvPr>
          <p:cNvSpPr txBox="1"/>
          <p:nvPr/>
        </p:nvSpPr>
        <p:spPr>
          <a:xfrm>
            <a:off x="457200" y="1600200"/>
            <a:ext cx="8229600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ln w="0"/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1. </a:t>
            </a:r>
            <a:r>
              <a:rPr lang="en-US" altLang="ja-JP" sz="1600" dirty="0" err="1">
                <a:ln w="0"/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Gizidata</a:t>
            </a:r>
            <a:r>
              <a:rPr lang="en-US" altLang="ja-JP" sz="1600" dirty="0">
                <a:ln w="0"/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:</a:t>
            </a:r>
            <a:endParaRPr kumimoji="1" lang="en-US" altLang="ja-JP" sz="1600" dirty="0">
              <a:ln w="0"/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ja-JP" sz="1600" dirty="0">
                <a:ln w="0"/>
              </a:rPr>
              <a:t>Created data base on file data.</a:t>
            </a: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AD9D1C3-D327-4181-8B14-2B772CC852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6200" y="1447800"/>
            <a:ext cx="3962400" cy="212671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38C4F39-227F-4BE3-A774-A142CBCCC19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3886" y="3876847"/>
            <a:ext cx="2685514" cy="276190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61D2B42-B6EA-4108-ACCE-CF5389CA50F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51558" y="3838752"/>
            <a:ext cx="4304762" cy="2800000"/>
          </a:xfrm>
          <a:prstGeom prst="rect">
            <a:avLst/>
          </a:prstGeom>
        </p:spPr>
      </p:pic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727A1CE0-5A8D-4057-9947-7E507BAD2347}"/>
              </a:ext>
            </a:extLst>
          </p:cNvPr>
          <p:cNvSpPr/>
          <p:nvPr/>
        </p:nvSpPr>
        <p:spPr>
          <a:xfrm>
            <a:off x="1143000" y="2362200"/>
            <a:ext cx="2209800" cy="762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File </a:t>
            </a:r>
            <a:r>
              <a:rPr kumimoji="1" lang="en-US" altLang="ja-JP" dirty="0" err="1"/>
              <a:t>Gizidata</a:t>
            </a:r>
            <a:endParaRPr kumimoji="1" lang="ja-JP" altLang="en-US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C022A1E-78EB-4039-A319-888F47C38C6A}"/>
              </a:ext>
            </a:extLst>
          </p:cNvPr>
          <p:cNvCxnSpPr>
            <a:stCxn id="12" idx="3"/>
          </p:cNvCxnSpPr>
          <p:nvPr/>
        </p:nvCxnSpPr>
        <p:spPr>
          <a:xfrm flipV="1">
            <a:off x="3352800" y="2590800"/>
            <a:ext cx="2514600" cy="152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4A59F5AA-A7A2-4B1D-A4DC-B5F7BE16D8C2}"/>
              </a:ext>
            </a:extLst>
          </p:cNvPr>
          <p:cNvSpPr/>
          <p:nvPr/>
        </p:nvSpPr>
        <p:spPr>
          <a:xfrm>
            <a:off x="3048000" y="4724400"/>
            <a:ext cx="1273078" cy="9144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4252789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347472"/>
            <a:ext cx="8229600" cy="1252728"/>
          </a:xfrm>
        </p:spPr>
        <p:txBody>
          <a:bodyPr>
            <a:noAutofit/>
          </a:bodyPr>
          <a:lstStyle/>
          <a:p>
            <a:pPr marL="514350" indent="-514350"/>
            <a:r>
              <a:rPr lang="en-US" altLang="ja-JP" sz="3200" dirty="0"/>
              <a:t>V.	Conversion Type (Next)</a:t>
            </a:r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17F1F5F-F2A1-4B00-8BE0-4821DC350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A0A951-0E64-41A7-AF81-9462FE1B116A}" type="datetime1">
              <a:rPr lang="ja-JP" altLang="en-US" smtClean="0"/>
              <a:t>2018/2/2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705F65-4575-4732-BC0B-8C21512201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ja-JP" altLang="en-US"/>
              <a:t>テストエース</a:t>
            </a:r>
            <a:endParaRPr lang="en-US" dirty="0"/>
          </a:p>
        </p:txBody>
      </p:sp>
      <p:pic>
        <p:nvPicPr>
          <p:cNvPr id="47" name="Picture 3">
            <a:extLst>
              <a:ext uri="{FF2B5EF4-FFF2-40B4-BE49-F238E27FC236}">
                <a16:creationId xmlns:a16="http://schemas.microsoft.com/office/drawing/2014/main" id="{7CDACAB0-C87E-4B67-BA30-18333047F9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39085" y="-1"/>
            <a:ext cx="1204915" cy="3810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4D49C1AB-93B6-4DF0-B72F-08AEB924EEF8}"/>
              </a:ext>
            </a:extLst>
          </p:cNvPr>
          <p:cNvSpPr txBox="1"/>
          <p:nvPr/>
        </p:nvSpPr>
        <p:spPr>
          <a:xfrm>
            <a:off x="457200" y="1600200"/>
            <a:ext cx="8229600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ln w="0"/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1. Use-</a:t>
            </a:r>
            <a:r>
              <a:rPr lang="en-US" altLang="ja-JP" sz="1600" dirty="0" err="1">
                <a:ln w="0"/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defind</a:t>
            </a:r>
            <a:r>
              <a:rPr lang="en-US" altLang="ja-JP" sz="1600" dirty="0">
                <a:ln w="0"/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function:</a:t>
            </a:r>
            <a:endParaRPr kumimoji="1" lang="en-US" altLang="ja-JP" sz="1600" dirty="0">
              <a:ln w="0"/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ja-JP" sz="1600" dirty="0">
                <a:ln w="0"/>
              </a:rPr>
              <a:t>Created data base on created function of user.</a:t>
            </a: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4687EBD-83EA-4317-849E-BB3F09EF83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0200" y="1371600"/>
            <a:ext cx="3498432" cy="2566762"/>
          </a:xfrm>
          <a:prstGeom prst="rect">
            <a:avLst/>
          </a:prstGeom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0329D5B-5C83-4A90-A999-6D768192F0AE}"/>
              </a:ext>
            </a:extLst>
          </p:cNvPr>
          <p:cNvSpPr/>
          <p:nvPr/>
        </p:nvSpPr>
        <p:spPr>
          <a:xfrm>
            <a:off x="1066800" y="2438400"/>
            <a:ext cx="2895600" cy="8382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Created function of User</a:t>
            </a:r>
            <a:endParaRPr kumimoji="1" lang="ja-JP" altLang="en-US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9C1377D-A7AE-4D5F-BA5E-D210C021FC63}"/>
              </a:ext>
            </a:extLst>
          </p:cNvPr>
          <p:cNvCxnSpPr>
            <a:cxnSpLocks/>
            <a:stCxn id="10" idx="3"/>
          </p:cNvCxnSpPr>
          <p:nvPr/>
        </p:nvCxnSpPr>
        <p:spPr>
          <a:xfrm flipV="1">
            <a:off x="3962400" y="2852928"/>
            <a:ext cx="1371600" cy="45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76D87D71-AA91-45C2-82ED-CC7CCBA7A2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267200"/>
            <a:ext cx="1914286" cy="2404885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CC6FCA5-8068-4F04-9B70-3E7BDAD2253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91238" y="4267199"/>
            <a:ext cx="1904762" cy="2400313"/>
          </a:xfrm>
          <a:prstGeom prst="rect">
            <a:avLst/>
          </a:prstGeom>
        </p:spPr>
      </p:pic>
      <p:sp>
        <p:nvSpPr>
          <p:cNvPr id="17" name="Arrow: Right 16">
            <a:extLst>
              <a:ext uri="{FF2B5EF4-FFF2-40B4-BE49-F238E27FC236}">
                <a16:creationId xmlns:a16="http://schemas.microsoft.com/office/drawing/2014/main" id="{60261C6A-5363-447D-898A-08F253D14F6F}"/>
              </a:ext>
            </a:extLst>
          </p:cNvPr>
          <p:cNvSpPr/>
          <p:nvPr/>
        </p:nvSpPr>
        <p:spPr>
          <a:xfrm>
            <a:off x="2514600" y="4962490"/>
            <a:ext cx="1524000" cy="105273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873779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347472"/>
            <a:ext cx="8229600" cy="1252728"/>
          </a:xfrm>
        </p:spPr>
        <p:txBody>
          <a:bodyPr>
            <a:noAutofit/>
          </a:bodyPr>
          <a:lstStyle/>
          <a:p>
            <a:pPr marL="514350" indent="-514350"/>
            <a:r>
              <a:rPr lang="en-US" altLang="ja-JP" sz="3200" dirty="0"/>
              <a:t>V.	Conversion Type (Next)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1DC88BBC-3497-4A13-AB43-B4271F605E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7EE9EE-7C42-4B24-90A5-BB97D01D8E9C}" type="datetime1">
              <a:rPr lang="ja-JP" altLang="en-US" smtClean="0"/>
              <a:t>2018/2/2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01B3BE3-E5B1-4AD6-AAA9-E033E49EC4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ja-JP" altLang="en-US"/>
              <a:t>テストエース</a:t>
            </a:r>
            <a:endParaRPr lang="en-US" dirty="0"/>
          </a:p>
        </p:txBody>
      </p:sp>
      <p:pic>
        <p:nvPicPr>
          <p:cNvPr id="82" name="Picture 3">
            <a:extLst>
              <a:ext uri="{FF2B5EF4-FFF2-40B4-BE49-F238E27FC236}">
                <a16:creationId xmlns:a16="http://schemas.microsoft.com/office/drawing/2014/main" id="{C67CA060-310D-4D32-8298-914922AAA9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39085" y="-1"/>
            <a:ext cx="1204915" cy="3810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7" name="TextBox 86">
            <a:extLst>
              <a:ext uri="{FF2B5EF4-FFF2-40B4-BE49-F238E27FC236}">
                <a16:creationId xmlns:a16="http://schemas.microsoft.com/office/drawing/2014/main" id="{88CE78DE-CC3D-4883-B412-EF4AB29F015D}"/>
              </a:ext>
            </a:extLst>
          </p:cNvPr>
          <p:cNvSpPr txBox="1"/>
          <p:nvPr/>
        </p:nvSpPr>
        <p:spPr>
          <a:xfrm>
            <a:off x="457200" y="1600200"/>
            <a:ext cx="8229600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ln w="0"/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1. Foreign key:</a:t>
            </a:r>
            <a:endParaRPr kumimoji="1" lang="en-US" altLang="ja-JP" sz="1600" dirty="0">
              <a:ln w="0"/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ja-JP" sz="1600" dirty="0">
                <a:ln w="0"/>
              </a:rPr>
              <a:t>Convert data like data in database.</a:t>
            </a: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444004F-BB6E-4762-BC81-ADEACEE634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342" y="2219476"/>
            <a:ext cx="4676190" cy="120952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A4312F3-2BAF-4E56-B43B-82DFFEEB79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800" y="3985468"/>
            <a:ext cx="1819048" cy="102857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97CE4FF-E209-4DD9-9F1C-A807066BAFF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400" y="3686371"/>
            <a:ext cx="1219048" cy="36190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90CCA41-13D9-4844-9EB7-E73A6E690E4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43929" y="3985468"/>
            <a:ext cx="2352381" cy="100952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A3681F3-E0B2-44FD-A7C3-1EADE641344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05833" y="3657600"/>
            <a:ext cx="1228571" cy="4000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38B6E5DB-9463-4090-A783-3B3C3A32755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04800" y="5180934"/>
            <a:ext cx="2752381" cy="1266667"/>
          </a:xfrm>
          <a:prstGeom prst="rect">
            <a:avLst/>
          </a:prstGeom>
        </p:spPr>
      </p:pic>
      <p:sp>
        <p:nvSpPr>
          <p:cNvPr id="20" name="Arrow: Right 19">
            <a:extLst>
              <a:ext uri="{FF2B5EF4-FFF2-40B4-BE49-F238E27FC236}">
                <a16:creationId xmlns:a16="http://schemas.microsoft.com/office/drawing/2014/main" id="{4F35B010-5B26-4226-AF6B-3625B0089378}"/>
              </a:ext>
            </a:extLst>
          </p:cNvPr>
          <p:cNvSpPr/>
          <p:nvPr/>
        </p:nvSpPr>
        <p:spPr>
          <a:xfrm>
            <a:off x="3204039" y="5486400"/>
            <a:ext cx="2053761" cy="88433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D454E999-678A-4753-B1EC-0875DC05675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343929" y="5180934"/>
            <a:ext cx="2752381" cy="1438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71174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347472"/>
            <a:ext cx="8229600" cy="1252728"/>
          </a:xfrm>
        </p:spPr>
        <p:txBody>
          <a:bodyPr>
            <a:noAutofit/>
          </a:bodyPr>
          <a:lstStyle/>
          <a:p>
            <a:pPr marL="514350" indent="-514350"/>
            <a:r>
              <a:rPr lang="en-US" altLang="ja-JP" sz="3200" dirty="0"/>
              <a:t>V.	Conversion Type (Next)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E52C6A-A9AF-4448-8587-BC0B834DE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09F4E7-1F1B-48E4-92D9-42D5BA0CFAB9}" type="datetime1">
              <a:rPr lang="ja-JP" altLang="en-US" smtClean="0"/>
              <a:t>2018/2/2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42F5D6-FAB7-4814-9FFF-281CCA018F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ja-JP" altLang="en-US"/>
              <a:t>テストエース</a:t>
            </a:r>
            <a:endParaRPr lang="en-US" dirty="0"/>
          </a:p>
        </p:txBody>
      </p:sp>
      <p:pic>
        <p:nvPicPr>
          <p:cNvPr id="37" name="Picture 3">
            <a:extLst>
              <a:ext uri="{FF2B5EF4-FFF2-40B4-BE49-F238E27FC236}">
                <a16:creationId xmlns:a16="http://schemas.microsoft.com/office/drawing/2014/main" id="{8C610C55-71B9-42D4-984D-25F6A292CE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39085" y="-1"/>
            <a:ext cx="1204915" cy="3810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9975799E-BD20-4F44-AFAA-9D0221F6458A}"/>
              </a:ext>
            </a:extLst>
          </p:cNvPr>
          <p:cNvSpPr txBox="1"/>
          <p:nvPr/>
        </p:nvSpPr>
        <p:spPr>
          <a:xfrm>
            <a:off x="457200" y="1600200"/>
            <a:ext cx="8229600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ln w="0"/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1. Dependent column:</a:t>
            </a:r>
            <a:endParaRPr kumimoji="1" lang="en-US" altLang="ja-JP" sz="1600" dirty="0">
              <a:ln w="0"/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ja-JP" dirty="0"/>
              <a:t>Created data is the same with dependent columns</a:t>
            </a:r>
            <a:endParaRPr kumimoji="1" lang="en-US" altLang="ja-JP" sz="1600" dirty="0">
              <a:ln w="0"/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0A82280-D718-4A4A-A1D0-EC7A93D3E9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514600"/>
            <a:ext cx="3390476" cy="189523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287D4ED-158F-44DB-8017-D65B76758EA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91200" y="2166828"/>
            <a:ext cx="2542857" cy="204761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3CEED43-87E0-43DF-9B0F-5DD97522151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29402" y="4250468"/>
            <a:ext cx="6520767" cy="24551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436941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51DB78-D787-4FCE-8F30-F6F85F76C1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V.	Conversion Type (Next)</a:t>
            </a:r>
            <a:endParaRPr kumimoji="1" lang="ja-JP" alt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E9D921-0447-4241-8A99-15975448BF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D8C9F0-02EB-4A41-A3D8-A4B8388840CD}" type="datetime1">
              <a:rPr lang="ja-JP" altLang="en-US" smtClean="0"/>
              <a:t>2018/2/2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0281CE-4D1E-46E2-A6B3-3B3698BA37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ja-JP" altLang="en-US"/>
              <a:t>テストエース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0B582D-5D3B-4767-90B3-B7D1D2FCDF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3392E73D-19AD-4A79-8F55-016717A297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ja-JP" alt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D652762-41C3-45D4-BF3F-9C87491F54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0685" y="1600200"/>
            <a:ext cx="6511715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963658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10" name="Title 1"/>
          <p:cNvSpPr txBox="1">
            <a:spLocks/>
          </p:cNvSpPr>
          <p:nvPr/>
        </p:nvSpPr>
        <p:spPr>
          <a:xfrm>
            <a:off x="304800" y="347472"/>
            <a:ext cx="8229600" cy="125272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kumimoji="1" sz="4000" kern="1200" spc="-1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514350" indent="-514350"/>
            <a:r>
              <a:rPr lang="en-US" altLang="ja-JP" sz="3200" dirty="0"/>
              <a:t>V.	Conversion Type (Next)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C4923DC-F34C-4E0D-9430-949F8529DA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4577B3-0F1C-4C3B-9D04-B00D368EC7EC}" type="datetime1">
              <a:rPr lang="ja-JP" altLang="en-US" smtClean="0"/>
              <a:t>2018/2/2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2314BA4B-40CE-4506-9203-F13B67AD2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ja-JP" altLang="en-US"/>
              <a:t>テストエース</a:t>
            </a:r>
            <a:endParaRPr lang="en-US" dirty="0"/>
          </a:p>
        </p:txBody>
      </p:sp>
      <p:pic>
        <p:nvPicPr>
          <p:cNvPr id="11" name="Picture 3">
            <a:extLst>
              <a:ext uri="{FF2B5EF4-FFF2-40B4-BE49-F238E27FC236}">
                <a16:creationId xmlns:a16="http://schemas.microsoft.com/office/drawing/2014/main" id="{80CB8510-F787-4744-A544-AA9BAA621D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39085" y="-1"/>
            <a:ext cx="1204915" cy="3810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A3A2165-2175-4EEC-998C-6D9A532BAA88}"/>
              </a:ext>
            </a:extLst>
          </p:cNvPr>
          <p:cNvSpPr txBox="1"/>
          <p:nvPr/>
        </p:nvSpPr>
        <p:spPr>
          <a:xfrm>
            <a:off x="457200" y="1600200"/>
            <a:ext cx="8229600" cy="50475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altLang="ja-JP" sz="1600" dirty="0">
                <a:ln w="0"/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Sequence </a:t>
            </a:r>
            <a:r>
              <a:rPr lang="ja-JP" altLang="en-US" sz="1600" dirty="0">
                <a:ln w="0"/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Ｎ</a:t>
            </a:r>
            <a:r>
              <a:rPr lang="en-US" altLang="ja-JP" sz="1600" dirty="0">
                <a:ln w="0"/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umber:</a:t>
            </a:r>
          </a:p>
          <a:p>
            <a:endParaRPr kumimoji="1" lang="en-US" altLang="ja-JP" sz="1600" dirty="0">
              <a:ln w="0"/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ja-JP" dirty="0"/>
              <a:t>Generate a sequence number.</a:t>
            </a:r>
            <a:endParaRPr kumimoji="1" lang="en-US" altLang="ja-JP" sz="1600" dirty="0">
              <a:ln w="0"/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A522100-D81D-4EDE-8F09-331E6E0C6F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1870" y="2048047"/>
            <a:ext cx="2980952" cy="276190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5FD229E-0FD4-4FE7-BA28-43FE287D8C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2575944"/>
            <a:ext cx="3638095" cy="1409524"/>
          </a:xfrm>
          <a:prstGeom prst="rect">
            <a:avLst/>
          </a:prstGeom>
        </p:spPr>
      </p:pic>
      <p:sp>
        <p:nvSpPr>
          <p:cNvPr id="5" name="Arrow: Right 4">
            <a:extLst>
              <a:ext uri="{FF2B5EF4-FFF2-40B4-BE49-F238E27FC236}">
                <a16:creationId xmlns:a16="http://schemas.microsoft.com/office/drawing/2014/main" id="{FE3A11F9-6B32-4366-9E9B-CA1FACC658C4}"/>
              </a:ext>
            </a:extLst>
          </p:cNvPr>
          <p:cNvSpPr/>
          <p:nvPr/>
        </p:nvSpPr>
        <p:spPr>
          <a:xfrm>
            <a:off x="4095295" y="2895600"/>
            <a:ext cx="1646575" cy="9144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6649403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10" name="Title 1"/>
          <p:cNvSpPr txBox="1">
            <a:spLocks/>
          </p:cNvSpPr>
          <p:nvPr/>
        </p:nvSpPr>
        <p:spPr>
          <a:xfrm>
            <a:off x="304800" y="347472"/>
            <a:ext cx="8229600" cy="125272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kumimoji="1" sz="4000" kern="1200" spc="-1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514350" indent="-514350"/>
            <a:r>
              <a:rPr lang="en-US" altLang="ja-JP" sz="3200" dirty="0"/>
              <a:t>V.	Conversion Type (Next)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E5438B7-8DF0-45B9-9E9A-681883BC29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7353EC-44E0-4AB2-A0C5-7D27BB99E342}" type="datetime1">
              <a:rPr lang="ja-JP" altLang="en-US" smtClean="0"/>
              <a:t>2018/2/2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93489F4F-3F48-4997-A311-92ED8C210B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ja-JP" altLang="en-US"/>
              <a:t>テストエース</a:t>
            </a:r>
            <a:endParaRPr lang="en-US" dirty="0"/>
          </a:p>
        </p:txBody>
      </p:sp>
      <p:pic>
        <p:nvPicPr>
          <p:cNvPr id="12" name="Picture 3">
            <a:extLst>
              <a:ext uri="{FF2B5EF4-FFF2-40B4-BE49-F238E27FC236}">
                <a16:creationId xmlns:a16="http://schemas.microsoft.com/office/drawing/2014/main" id="{F53D6ABB-8269-44FB-A32F-1B21CB80B8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39085" y="-1"/>
            <a:ext cx="1204915" cy="3810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5BBC61D-69E6-42EA-8C9A-9ECE0A2C1831}"/>
              </a:ext>
            </a:extLst>
          </p:cNvPr>
          <p:cNvSpPr txBox="1"/>
          <p:nvPr/>
        </p:nvSpPr>
        <p:spPr>
          <a:xfrm>
            <a:off x="457200" y="1600200"/>
            <a:ext cx="8229600" cy="50475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altLang="ja-JP" sz="1600" dirty="0">
                <a:ln w="0"/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Fixed </a:t>
            </a:r>
            <a:r>
              <a:rPr lang="ja-JP" altLang="en-US" sz="1600" dirty="0">
                <a:ln w="0"/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Ｖ</a:t>
            </a:r>
            <a:r>
              <a:rPr lang="en-US" altLang="ja-JP" sz="1600" dirty="0" err="1">
                <a:ln w="0"/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alue</a:t>
            </a:r>
            <a:r>
              <a:rPr lang="en-US" altLang="ja-JP" sz="1600" dirty="0">
                <a:ln w="0"/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:</a:t>
            </a:r>
          </a:p>
          <a:p>
            <a:endParaRPr kumimoji="1" lang="en-US" altLang="ja-JP" sz="1600" dirty="0">
              <a:ln w="0"/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ja-JP" dirty="0"/>
              <a:t>Generate fixed value.</a:t>
            </a:r>
            <a:endParaRPr kumimoji="1" lang="en-US" altLang="ja-JP" sz="1600" dirty="0">
              <a:ln w="0"/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kumimoji="1" lang="en-US" altLang="ja-JP" sz="1600" u="sng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2025DC9-34FD-43A1-991B-F1A6410B87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816629"/>
            <a:ext cx="2247619" cy="94285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8CABF05-B9CC-456B-B137-0EED17262E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77257" y="2062333"/>
            <a:ext cx="2857143" cy="2733333"/>
          </a:xfrm>
          <a:prstGeom prst="rect">
            <a:avLst/>
          </a:prstGeom>
        </p:spPr>
      </p:pic>
      <p:sp>
        <p:nvSpPr>
          <p:cNvPr id="15" name="Arrow: Right 14">
            <a:extLst>
              <a:ext uri="{FF2B5EF4-FFF2-40B4-BE49-F238E27FC236}">
                <a16:creationId xmlns:a16="http://schemas.microsoft.com/office/drawing/2014/main" id="{EABAFB1E-B0C4-4957-B9AC-8C0497D2187E}"/>
              </a:ext>
            </a:extLst>
          </p:cNvPr>
          <p:cNvSpPr/>
          <p:nvPr/>
        </p:nvSpPr>
        <p:spPr>
          <a:xfrm>
            <a:off x="3097708" y="2754657"/>
            <a:ext cx="2247619" cy="10668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6676573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3B89CA-C87F-4EA0-B117-DDB5E03209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ja-JP" dirty="0"/>
              <a:t>VI.	</a:t>
            </a:r>
            <a:r>
              <a:rPr lang="en-US" altLang="ja-JP" dirty="0">
                <a:latin typeface="Times New Roman" panose="02020603050405020304" pitchFamily="18" charset="0"/>
                <a:ea typeface="Segoe UI" panose="020B0502040204020203" pitchFamily="34" charset="0"/>
                <a:cs typeface="Times New Roman" panose="02020603050405020304" pitchFamily="18" charset="0"/>
              </a:rPr>
              <a:t> Report</a:t>
            </a:r>
            <a:endParaRPr kumimoji="1" lang="ja-JP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44C081-7B21-4B83-AD90-8A16326666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n-US" altLang="ja-JP" dirty="0"/>
              <a:t>Users can make settings for outputting report.</a:t>
            </a:r>
          </a:p>
          <a:p>
            <a:pPr lvl="1"/>
            <a:r>
              <a:rPr lang="en-US" altLang="ja-JP" dirty="0"/>
              <a:t>R</a:t>
            </a:r>
            <a:r>
              <a:rPr kumimoji="1" lang="en-US" altLang="ja-JP" dirty="0"/>
              <a:t>eport show information while </a:t>
            </a:r>
            <a:r>
              <a:rPr kumimoji="1" lang="en-US" altLang="ja-JP" dirty="0" err="1"/>
              <a:t>TestAce</a:t>
            </a:r>
            <a:r>
              <a:rPr kumimoji="1" lang="en-US" altLang="ja-JP" dirty="0"/>
              <a:t> is creating data.</a:t>
            </a:r>
            <a:endParaRPr kumimoji="1" lang="ja-JP" alt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8F601D-6D40-4C20-A570-13F056D695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D8C9F0-02EB-4A41-A3D8-A4B8388840CD}" type="datetime1">
              <a:rPr lang="ja-JP" altLang="en-US" smtClean="0"/>
              <a:t>2018/2/2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B30B3-B2DA-499A-BA27-D895AB9FDE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ja-JP" altLang="en-US"/>
              <a:t>テストエース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613552-4DF4-4B38-B15F-D66DCF282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28</a:t>
            </a:fld>
            <a:endParaRPr lang="en-US" dirty="0"/>
          </a:p>
        </p:txBody>
      </p:sp>
      <p:pic>
        <p:nvPicPr>
          <p:cNvPr id="7" name="Picture 3">
            <a:extLst>
              <a:ext uri="{FF2B5EF4-FFF2-40B4-BE49-F238E27FC236}">
                <a16:creationId xmlns:a16="http://schemas.microsoft.com/office/drawing/2014/main" id="{90E5DD5F-05A3-4543-AA04-F12852E9AF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39085" y="-1"/>
            <a:ext cx="1204915" cy="3810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EF42B51-BF72-4537-A23A-B1A18CD26F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5809" y="2819400"/>
            <a:ext cx="7152381" cy="1514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163986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B4411F-20DC-4818-97E6-1D8CA92ACE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VI.	</a:t>
            </a:r>
            <a:r>
              <a:rPr lang="en-US" altLang="ja-JP" dirty="0">
                <a:latin typeface="Times New Roman" panose="02020603050405020304" pitchFamily="18" charset="0"/>
                <a:ea typeface="Segoe UI" panose="020B0502040204020203" pitchFamily="34" charset="0"/>
                <a:cs typeface="Times New Roman" panose="02020603050405020304" pitchFamily="18" charset="0"/>
              </a:rPr>
              <a:t> Report (Next)</a:t>
            </a:r>
            <a:endParaRPr kumimoji="1" lang="ja-JP" altLang="en-US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097C3ADB-8105-4332-9F31-2DAF4DEEA43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7200" y="1786176"/>
            <a:ext cx="8229600" cy="4504848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F66F5B-268D-4FB1-BD48-6E9ADC0291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D8C9F0-02EB-4A41-A3D8-A4B8388840CD}" type="datetime1">
              <a:rPr lang="ja-JP" altLang="en-US" smtClean="0"/>
              <a:t>2018/2/2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5DA307-3683-424D-A011-E88384F369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ja-JP" altLang="en-US"/>
              <a:t>テストエース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05A023-1577-48B5-A79C-11368484E5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29</a:t>
            </a:fld>
            <a:endParaRPr lang="en-US" dirty="0"/>
          </a:p>
        </p:txBody>
      </p:sp>
      <p:pic>
        <p:nvPicPr>
          <p:cNvPr id="8" name="Picture 3">
            <a:extLst>
              <a:ext uri="{FF2B5EF4-FFF2-40B4-BE49-F238E27FC236}">
                <a16:creationId xmlns:a16="http://schemas.microsoft.com/office/drawing/2014/main" id="{9172BF26-B445-4071-8A06-24416CEA69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39085" y="-1"/>
            <a:ext cx="1204915" cy="3810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96881410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9E8121-D536-49A6-B0AE-D5C6536EE8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VII.	Summary</a:t>
            </a:r>
            <a:endParaRPr kumimoji="1" lang="ja-JP" alt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D1BEC4-32A4-4469-AC42-190BC87A72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D8C9F0-02EB-4A41-A3D8-A4B8388840CD}" type="datetime1">
              <a:rPr lang="ja-JP" altLang="en-US" smtClean="0"/>
              <a:t>2018/2/2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06BB1D-3A9D-40E2-9230-98BC1FDF23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ja-JP" altLang="en-US"/>
              <a:t>テストエース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6AFC15-6939-4278-8F23-0A733B3F02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30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867310F-8CEA-4662-82F6-44594E8FA9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5600" y="3048000"/>
            <a:ext cx="3352800" cy="1400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A036A2A-6EFD-457D-BEF2-74307A1A91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581400"/>
            <a:ext cx="1180952" cy="127619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45DFA90-5164-452A-850B-6FB234A7A4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385" y="5009990"/>
            <a:ext cx="1200000" cy="125714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E0A5BDA-60C8-4370-A209-4EAAFE0FFE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2000" y="3576660"/>
            <a:ext cx="1180952" cy="127619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14B22C9-1AF9-429D-8C76-CEE01F1AE1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82000" y="4973385"/>
            <a:ext cx="1200000" cy="1257143"/>
          </a:xfrm>
          <a:prstGeom prst="rect">
            <a:avLst/>
          </a:prstGeom>
        </p:spPr>
      </p:pic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5ABE068-7503-4331-B4F0-9B40EA99A2F4}"/>
              </a:ext>
            </a:extLst>
          </p:cNvPr>
          <p:cNvSpPr/>
          <p:nvPr/>
        </p:nvSpPr>
        <p:spPr>
          <a:xfrm>
            <a:off x="533400" y="3429000"/>
            <a:ext cx="1524000" cy="29718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718D02FF-6B32-452E-832D-8E8EA3C02B2C}"/>
              </a:ext>
            </a:extLst>
          </p:cNvPr>
          <p:cNvSpPr/>
          <p:nvPr/>
        </p:nvSpPr>
        <p:spPr>
          <a:xfrm>
            <a:off x="7010400" y="3456125"/>
            <a:ext cx="1524000" cy="2934393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C239F96-C754-49D0-8DB8-A699AAF64035}"/>
              </a:ext>
            </a:extLst>
          </p:cNvPr>
          <p:cNvSpPr txBox="1"/>
          <p:nvPr/>
        </p:nvSpPr>
        <p:spPr>
          <a:xfrm>
            <a:off x="790199" y="3090548"/>
            <a:ext cx="6976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solidFill>
                  <a:srgbClr val="FF0000"/>
                </a:solidFill>
              </a:rPr>
              <a:t>Input</a:t>
            </a:r>
            <a:endParaRPr kumimoji="1" lang="ja-JP" altLang="en-US" dirty="0">
              <a:solidFill>
                <a:srgbClr val="FF000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D65DE3C-4D56-4233-B994-D56E01680CB2}"/>
              </a:ext>
            </a:extLst>
          </p:cNvPr>
          <p:cNvSpPr txBox="1"/>
          <p:nvPr/>
        </p:nvSpPr>
        <p:spPr>
          <a:xfrm>
            <a:off x="7280224" y="3124200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solidFill>
                  <a:srgbClr val="FF0000"/>
                </a:solidFill>
              </a:rPr>
              <a:t>Output</a:t>
            </a:r>
            <a:endParaRPr kumimoji="1" lang="ja-JP" altLang="en-US" dirty="0">
              <a:solidFill>
                <a:srgbClr val="FF0000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70E07BF-DA83-4720-B40A-7F8DE9AA7288}"/>
              </a:ext>
            </a:extLst>
          </p:cNvPr>
          <p:cNvSpPr/>
          <p:nvPr/>
        </p:nvSpPr>
        <p:spPr>
          <a:xfrm>
            <a:off x="381000" y="2971800"/>
            <a:ext cx="8305800" cy="36576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371A470A-8F52-4BAB-BA33-D585EF03331B}"/>
              </a:ext>
            </a:extLst>
          </p:cNvPr>
          <p:cNvSpPr/>
          <p:nvPr/>
        </p:nvSpPr>
        <p:spPr>
          <a:xfrm>
            <a:off x="2209800" y="3810000"/>
            <a:ext cx="609600" cy="6096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Arrow: Right 17">
            <a:extLst>
              <a:ext uri="{FF2B5EF4-FFF2-40B4-BE49-F238E27FC236}">
                <a16:creationId xmlns:a16="http://schemas.microsoft.com/office/drawing/2014/main" id="{B0EC479C-FF63-45A6-A37E-3011F0FF9C65}"/>
              </a:ext>
            </a:extLst>
          </p:cNvPr>
          <p:cNvSpPr/>
          <p:nvPr/>
        </p:nvSpPr>
        <p:spPr>
          <a:xfrm>
            <a:off x="6337538" y="3886200"/>
            <a:ext cx="609600" cy="6096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Arrow: Down 19">
            <a:extLst>
              <a:ext uri="{FF2B5EF4-FFF2-40B4-BE49-F238E27FC236}">
                <a16:creationId xmlns:a16="http://schemas.microsoft.com/office/drawing/2014/main" id="{021E8AF7-DD74-44D2-BA50-9E4BC004C7FB}"/>
              </a:ext>
            </a:extLst>
          </p:cNvPr>
          <p:cNvSpPr/>
          <p:nvPr/>
        </p:nvSpPr>
        <p:spPr>
          <a:xfrm rot="10800000">
            <a:off x="4191000" y="4543601"/>
            <a:ext cx="685800" cy="561798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95FF76A7-7B44-4E93-9830-F518F491E9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95809" y="5181600"/>
            <a:ext cx="1152381" cy="1238095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6594E1BD-8DDB-44B9-9427-FA21B9E3680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91400" y="474409"/>
            <a:ext cx="1373861" cy="1834770"/>
          </a:xfrm>
          <a:prstGeom prst="rect">
            <a:avLst/>
          </a:prstGeom>
        </p:spPr>
      </p:pic>
      <p:sp>
        <p:nvSpPr>
          <p:cNvPr id="23" name="Arrow: Down 22">
            <a:extLst>
              <a:ext uri="{FF2B5EF4-FFF2-40B4-BE49-F238E27FC236}">
                <a16:creationId xmlns:a16="http://schemas.microsoft.com/office/drawing/2014/main" id="{9325825A-BCDF-4324-92B3-410E3DA0D8DF}"/>
              </a:ext>
            </a:extLst>
          </p:cNvPr>
          <p:cNvSpPr/>
          <p:nvPr/>
        </p:nvSpPr>
        <p:spPr>
          <a:xfrm rot="10800000">
            <a:off x="7772400" y="2315797"/>
            <a:ext cx="685800" cy="561798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4" name="Picture 3">
            <a:extLst>
              <a:ext uri="{FF2B5EF4-FFF2-40B4-BE49-F238E27FC236}">
                <a16:creationId xmlns:a16="http://schemas.microsoft.com/office/drawing/2014/main" id="{5032D17D-5EFF-40FC-821C-53465B1E98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39085" y="-1"/>
            <a:ext cx="1204915" cy="3810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90275534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4F9D37-B78A-4A83-AFB9-45296F6C26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>
                <a:latin typeface="Times New Roman" panose="02020603050405020304" pitchFamily="18" charset="0"/>
                <a:ea typeface="Segoe UI" panose="020B0502040204020203" pitchFamily="34" charset="0"/>
                <a:cs typeface="Times New Roman" panose="02020603050405020304" pitchFamily="18" charset="0"/>
              </a:rPr>
              <a:t>VIII.	Thanks your watching</a:t>
            </a:r>
            <a:endParaRPr kumimoji="1" lang="ja-JP" alt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2B002F-1D46-4D9C-9EFB-7CE51717D0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D8C9F0-02EB-4A41-A3D8-A4B8388840CD}" type="datetime1">
              <a:rPr lang="ja-JP" altLang="en-US" smtClean="0"/>
              <a:t>2018/2/2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6E3ADB-2657-45A6-98E0-BA59176300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ja-JP" altLang="en-US"/>
              <a:t>テストエース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F35D13-888C-4606-8478-34393D50EE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3AA7CA8C-FBBE-4B40-911C-95FF59C068B4}"/>
              </a:ext>
            </a:extLst>
          </p:cNvPr>
          <p:cNvSpPr txBox="1">
            <a:spLocks/>
          </p:cNvSpPr>
          <p:nvPr/>
        </p:nvSpPr>
        <p:spPr>
          <a:xfrm>
            <a:off x="457200" y="1828800"/>
            <a:ext cx="7824788" cy="16002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828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90000"/>
              <a:buFont typeface="Arial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88720" indent="-1371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kumimoji="1"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3716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kumimoji="1"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5544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kumimoji="1"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73736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kumimoji="1"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9202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kumimoji="1"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1600" dirty="0">
                <a:latin typeface="Segoe UI" panose="020B0502040204020203" pitchFamily="34" charset="0"/>
                <a:cs typeface="Segoe UI" panose="020B0502040204020203" pitchFamily="34" charset="0"/>
              </a:rPr>
              <a:t>Thanks to </a:t>
            </a:r>
            <a:r>
              <a:rPr lang="en-US" altLang="ja-JP" sz="1600" b="1" dirty="0">
                <a:latin typeface="Segoe UI" panose="020B0502040204020203" pitchFamily="34" charset="0"/>
                <a:cs typeface="Segoe UI" panose="020B0502040204020203" pitchFamily="34" charset="0"/>
              </a:rPr>
              <a:t>Mr.</a:t>
            </a:r>
            <a:r>
              <a:rPr lang="en-US" altLang="ja-JP" sz="16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altLang="ja-JP" sz="1600" b="1" dirty="0">
                <a:latin typeface="Segoe UI" panose="020B0502040204020203" pitchFamily="34" charset="0"/>
                <a:cs typeface="Segoe UI" panose="020B0502040204020203" pitchFamily="34" charset="0"/>
              </a:rPr>
              <a:t>Koga Satoru, Ms.</a:t>
            </a:r>
            <a:r>
              <a:rPr lang="en-US" altLang="ja-JP" sz="16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altLang="ja-JP" sz="1600" b="1" dirty="0">
                <a:latin typeface="Segoe UI" panose="020B0502040204020203" pitchFamily="34" charset="0"/>
                <a:cs typeface="Segoe UI" panose="020B0502040204020203" pitchFamily="34" charset="0"/>
              </a:rPr>
              <a:t>Ngoc Thuy and Mr. </a:t>
            </a:r>
            <a:r>
              <a:rPr lang="en-US" altLang="ja-JP" sz="1600" b="1" dirty="0" err="1">
                <a:latin typeface="Segoe UI" panose="020B0502040204020203" pitchFamily="34" charset="0"/>
                <a:cs typeface="Segoe UI" panose="020B0502040204020203" pitchFamily="34" charset="0"/>
              </a:rPr>
              <a:t>Khang</a:t>
            </a:r>
            <a:r>
              <a:rPr lang="en-US" altLang="ja-JP" sz="1600" dirty="0">
                <a:latin typeface="Segoe UI" panose="020B0502040204020203" pitchFamily="34" charset="0"/>
                <a:cs typeface="Segoe UI" panose="020B0502040204020203" pitchFamily="34" charset="0"/>
              </a:rPr>
              <a:t> have supported QA to understand and study </a:t>
            </a:r>
            <a:r>
              <a:rPr lang="ja-JP" altLang="en-US" sz="1600" dirty="0"/>
              <a:t>テストエース</a:t>
            </a:r>
            <a:r>
              <a:rPr lang="en-US" altLang="ja-JP" sz="1600" dirty="0">
                <a:latin typeface="Segoe UI" panose="020B0502040204020203" pitchFamily="34" charset="0"/>
                <a:cs typeface="Segoe UI" panose="020B0502040204020203" pitchFamily="34" charset="0"/>
              </a:rPr>
              <a:t>.</a:t>
            </a:r>
          </a:p>
          <a:p>
            <a:r>
              <a:rPr lang="en-US" altLang="ja-JP" sz="1600" dirty="0">
                <a:latin typeface="Segoe UI" panose="020B0502040204020203" pitchFamily="34" charset="0"/>
                <a:cs typeface="Segoe UI" panose="020B0502040204020203" pitchFamily="34" charset="0"/>
              </a:rPr>
              <a:t>Thanks to </a:t>
            </a:r>
            <a:r>
              <a:rPr lang="ja-JP" altLang="en-US" sz="1600" b="1" dirty="0">
                <a:latin typeface="Segoe UI" panose="020B0502040204020203" pitchFamily="34" charset="0"/>
                <a:cs typeface="Segoe UI" panose="020B0502040204020203" pitchFamily="34" charset="0"/>
              </a:rPr>
              <a:t>Ｍｒ．Ｄｕｃ</a:t>
            </a:r>
            <a:r>
              <a:rPr lang="en-US" altLang="ja-JP" sz="1600" dirty="0">
                <a:latin typeface="Segoe UI" panose="020B0502040204020203" pitchFamily="34" charset="0"/>
                <a:cs typeface="Segoe UI" panose="020B0502040204020203" pitchFamily="34" charset="0"/>
              </a:rPr>
              <a:t> have supported for meeting daily and contact to </a:t>
            </a:r>
            <a:r>
              <a:rPr lang="en-US" altLang="ja-JP" sz="1600" dirty="0" err="1">
                <a:latin typeface="Segoe UI" panose="020B0502040204020203" pitchFamily="34" charset="0"/>
                <a:cs typeface="Segoe UI" panose="020B0502040204020203" pitchFamily="34" charset="0"/>
              </a:rPr>
              <a:t>Janpan</a:t>
            </a:r>
            <a:r>
              <a:rPr lang="en-US" altLang="ja-JP" sz="1600" dirty="0">
                <a:latin typeface="Segoe UI" panose="020B0502040204020203" pitchFamily="34" charset="0"/>
                <a:cs typeface="Segoe UI" panose="020B0502040204020203" pitchFamily="34" charset="0"/>
              </a:rPr>
              <a:t>.</a:t>
            </a:r>
            <a:endParaRPr lang="ja-JP" altLang="en-US" sz="16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8" name="Picture 3">
            <a:extLst>
              <a:ext uri="{FF2B5EF4-FFF2-40B4-BE49-F238E27FC236}">
                <a16:creationId xmlns:a16="http://schemas.microsoft.com/office/drawing/2014/main" id="{7221E9DD-8E56-4F1F-98E9-1F0BB401CB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39085" y="-1"/>
            <a:ext cx="1204915" cy="3810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Picture 3">
            <a:extLst>
              <a:ext uri="{FF2B5EF4-FFF2-40B4-BE49-F238E27FC236}">
                <a16:creationId xmlns:a16="http://schemas.microsoft.com/office/drawing/2014/main" id="{0F7946BD-709B-44FF-9126-8D71463BB1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47885" y="3733800"/>
            <a:ext cx="4633915" cy="14652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07731250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larity">
  <a:themeElements>
    <a:clrScheme name="Clarity">
      <a:dk1>
        <a:srgbClr val="292934"/>
      </a:dk1>
      <a:lt1>
        <a:srgbClr val="FFFFFF"/>
      </a:lt1>
      <a:dk2>
        <a:srgbClr val="D2533C"/>
      </a:dk2>
      <a:lt2>
        <a:srgbClr val="F3F2DC"/>
      </a:lt2>
      <a:accent1>
        <a:srgbClr val="93A299"/>
      </a:accent1>
      <a:accent2>
        <a:srgbClr val="AD8F67"/>
      </a:accent2>
      <a:accent3>
        <a:srgbClr val="726056"/>
      </a:accent3>
      <a:accent4>
        <a:srgbClr val="4C5A6A"/>
      </a:accent4>
      <a:accent5>
        <a:srgbClr val="808DA0"/>
      </a:accent5>
      <a:accent6>
        <a:srgbClr val="79463D"/>
      </a:accent6>
      <a:hlink>
        <a:srgbClr val="0000FF"/>
      </a:hlink>
      <a:folHlink>
        <a:srgbClr val="800080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larity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hade val="86000"/>
                <a:satMod val="140000"/>
              </a:schemeClr>
            </a:gs>
            <a:gs pos="45000">
              <a:schemeClr val="phClr">
                <a:tint val="48000"/>
                <a:satMod val="150000"/>
              </a:schemeClr>
            </a:gs>
            <a:gs pos="100000">
              <a:schemeClr val="phClr">
                <a:tint val="28000"/>
                <a:satMod val="16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70000"/>
                <a:satMod val="150000"/>
              </a:schemeClr>
            </a:gs>
            <a:gs pos="34000">
              <a:schemeClr val="phClr">
                <a:shade val="70000"/>
                <a:satMod val="140000"/>
              </a:schemeClr>
            </a:gs>
            <a:gs pos="70000">
              <a:schemeClr val="phClr">
                <a:tint val="100000"/>
                <a:shade val="90000"/>
                <a:satMod val="140000"/>
              </a:schemeClr>
            </a:gs>
            <a:gs pos="100000">
              <a:schemeClr val="phClr">
                <a:tint val="100000"/>
                <a:shade val="100000"/>
                <a:sat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26425" cap="flat" cmpd="sng" algn="ctr">
          <a:solidFill>
            <a:schemeClr val="phClr"/>
          </a:solidFill>
          <a:prstDash val="solid"/>
        </a:ln>
        <a:ln w="444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hade val="30000"/>
                <a:satMod val="13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5000"/>
                <a:satMod val="180000"/>
              </a:schemeClr>
            </a:gs>
            <a:gs pos="40000">
              <a:schemeClr val="phClr">
                <a:tint val="95000"/>
                <a:shade val="85000"/>
                <a:satMod val="150000"/>
              </a:schemeClr>
            </a:gs>
            <a:gs pos="100000">
              <a:schemeClr val="phClr">
                <a:shade val="45000"/>
                <a:satMod val="200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55000"/>
              </a:schemeClr>
              <a:schemeClr val="phClr">
                <a:tint val="97000"/>
                <a:satMod val="95000"/>
              </a:schemeClr>
            </a:duotone>
          </a:blip>
          <a:tile tx="0" ty="0" sx="70000" sy="70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Equity</Template>
  <TotalTime>9435</TotalTime>
  <Words>1387</Words>
  <Application>Microsoft Office PowerPoint</Application>
  <PresentationFormat>On-screen Show (4:3)</PresentationFormat>
  <Paragraphs>740</Paragraphs>
  <Slides>31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8" baseType="lpstr">
      <vt:lpstr>微軟正黑體</vt:lpstr>
      <vt:lpstr>ＭＳ Ｐゴシック</vt:lpstr>
      <vt:lpstr>Arial</vt:lpstr>
      <vt:lpstr>Calibri</vt:lpstr>
      <vt:lpstr>Segoe UI</vt:lpstr>
      <vt:lpstr>Times New Roman</vt:lpstr>
      <vt:lpstr>Clarity</vt:lpstr>
      <vt:lpstr>PowerPoint Presentation</vt:lpstr>
      <vt:lpstr>Categories</vt:lpstr>
      <vt:lpstr>Schedule study</vt:lpstr>
      <vt:lpstr>II. Overview</vt:lpstr>
      <vt:lpstr>III. Setting</vt:lpstr>
      <vt:lpstr>III. Setting (Next)</vt:lpstr>
      <vt:lpstr>III. Setting (Next)</vt:lpstr>
      <vt:lpstr>III. Setting (Next)</vt:lpstr>
      <vt:lpstr>III. Setting (Next)</vt:lpstr>
      <vt:lpstr>PowerPoint Presentation</vt:lpstr>
      <vt:lpstr>VI. Data Flow (Next)</vt:lpstr>
      <vt:lpstr>VI. Data Flow (Next)</vt:lpstr>
      <vt:lpstr>VI. Data Flow (Next)</vt:lpstr>
      <vt:lpstr>VI. Data Flow (Next)</vt:lpstr>
      <vt:lpstr>VI. Data Flow (Next)</vt:lpstr>
      <vt:lpstr>VI. Data Flow (Next)</vt:lpstr>
      <vt:lpstr>V. Conversion Type</vt:lpstr>
      <vt:lpstr>V. Conversion Type (Next)</vt:lpstr>
      <vt:lpstr>V. Conversion Type (Next)</vt:lpstr>
      <vt:lpstr>V. Conversion Type (Next)</vt:lpstr>
      <vt:lpstr>V. Conversion Type (Next)</vt:lpstr>
      <vt:lpstr>V. Conversion Type (Next)</vt:lpstr>
      <vt:lpstr>V. Conversion Type (Next)</vt:lpstr>
      <vt:lpstr>V. Conversion Type (Next)</vt:lpstr>
      <vt:lpstr>V. Conversion Type (Next)</vt:lpstr>
      <vt:lpstr>PowerPoint Presentation</vt:lpstr>
      <vt:lpstr>PowerPoint Presentation</vt:lpstr>
      <vt:lpstr>VI.  Report</vt:lpstr>
      <vt:lpstr>VI.  Report (Next)</vt:lpstr>
      <vt:lpstr>VII. Summary</vt:lpstr>
      <vt:lpstr>VIII. Thanks your watching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SSDB Audit LS &amp;  SSDB Audit RM Product Description</dc:title>
  <dc:creator>duc-tuan</dc:creator>
  <cp:lastModifiedBy>van-thanh</cp:lastModifiedBy>
  <cp:revision>1763</cp:revision>
  <dcterms:created xsi:type="dcterms:W3CDTF">2006-08-16T00:00:00Z</dcterms:created>
  <dcterms:modified xsi:type="dcterms:W3CDTF">2018-02-02T01:35:54Z</dcterms:modified>
</cp:coreProperties>
</file>